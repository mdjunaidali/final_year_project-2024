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svg" ContentType="image/svg+xml"/>
  <Override PartName="/docMetadata/LabelInfo.xml" ContentType="application/vnd.ms-office.classificationlabel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9"/>
  </p:notesMasterIdLst>
  <p:handoutMasterIdLst>
    <p:handoutMasterId r:id="rId20"/>
  </p:handoutMasterIdLst>
  <p:sldIdLst>
    <p:sldId id="256" r:id="rId5"/>
    <p:sldId id="277" r:id="rId6"/>
    <p:sldId id="295" r:id="rId7"/>
    <p:sldId id="300" r:id="rId8"/>
    <p:sldId id="266" r:id="rId9"/>
    <p:sldId id="262" r:id="rId10"/>
    <p:sldId id="264" r:id="rId11"/>
    <p:sldId id="297" r:id="rId12"/>
    <p:sldId id="301" r:id="rId13"/>
    <p:sldId id="278" r:id="rId14"/>
    <p:sldId id="298" r:id="rId15"/>
    <p:sldId id="283" r:id="rId16"/>
    <p:sldId id="299"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9E6D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1330" y="-53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pPr/>
              <a:t>5/28/2024</a:t>
            </a:fld>
            <a:endParaRPr lang="en-US" dirty="0"/>
          </a:p>
        </p:txBody>
      </p:sp>
      <p:sp>
        <p:nvSpPr>
          <p:cNvPr id="4" name="Footer Placeholder 3">
            <a:extLst>
              <a:ext uri="{FF2B5EF4-FFF2-40B4-BE49-F238E27FC236}">
                <a16:creationId xmlns:a16="http://schemas.microsoft.com/office/drawing/2014/main" xmlns=""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pPr/>
              <a:t>‹#›</a:t>
            </a:fld>
            <a:endParaRPr lang="en-US" dirty="0"/>
          </a:p>
        </p:txBody>
      </p:sp>
    </p:spTree>
    <p:extLst>
      <p:ext uri="{BB962C8B-B14F-4D97-AF65-F5344CB8AC3E}">
        <p14:creationId xmlns:p14="http://schemas.microsoft.com/office/powerpoint/2010/main" xmlns=""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pPr/>
              <a:t>5/28/2024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pPr/>
              <a:t>‹#›</a:t>
            </a:fld>
            <a:endParaRPr lang="en-US" dirty="0"/>
          </a:p>
        </p:txBody>
      </p:sp>
    </p:spTree>
    <p:extLst>
      <p:ext uri="{BB962C8B-B14F-4D97-AF65-F5344CB8AC3E}">
        <p14:creationId xmlns:p14="http://schemas.microsoft.com/office/powerpoint/2010/main" xmlns=""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xmlns=""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xmlns="" id="{A04F1E16-9A84-4D0E-9706-79C396AF6AE6}"/>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xmlns=""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xmlns="" id="{D514C6BF-376E-43E8-881D-2E767426990A}"/>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xmlns=""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xmlns=""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xmlns=""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xmlns=""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xmlns="" id="{9D2AF524-D4B4-4A3A-9CE4-EDAFE1D5A37B}"/>
              </a:ext>
              <a:ext uri="{C183D7F6-B498-43B3-948B-1728B52AA6E4}">
                <adec:decorative xmlns:adec="http://schemas.microsoft.com/office/drawing/2017/decorative" xmlns=""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xmlns=""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xmlns=""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xmlns=""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xmlns=""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xmlns=""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xmlns=""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xmlns=""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xmlns=""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xmlns=""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xmlns="" id="{D3795F91-C721-4363-956D-756673AE7957}"/>
              </a:ext>
              <a:ext uri="{C183D7F6-B498-43B3-948B-1728B52AA6E4}">
                <adec:decorative xmlns:adec="http://schemas.microsoft.com/office/drawing/2017/decorative" xmlns=""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xmlns="" id="{8AC14461-E27D-413D-B31A-47B74646AF25}"/>
              </a:ext>
              <a:ext uri="{C183D7F6-B498-43B3-948B-1728B52AA6E4}">
                <adec:decorative xmlns:adec="http://schemas.microsoft.com/office/drawing/2017/decorative" xmlns=""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xmlns="" id="{4D6AEA4C-7710-4829-BA87-8DD77F15932C}"/>
              </a:ext>
              <a:ext uri="{C183D7F6-B498-43B3-948B-1728B52AA6E4}">
                <adec:decorative xmlns:adec="http://schemas.microsoft.com/office/drawing/2017/decorative" xmlns=""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xmlns="" id="{E9BD473E-6203-491C-87AC-54AC0AB23333}"/>
              </a:ext>
              <a:ext uri="{C183D7F6-B498-43B3-948B-1728B52AA6E4}">
                <adec:decorative xmlns:adec="http://schemas.microsoft.com/office/drawing/2017/decorative" xmlns=""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xmlns=""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xmlns=""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xmlns=""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xmlns=""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xmlns=""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xmlns=""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xmlns=""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xmlns=""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xmlns=""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xmlns=""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xmlns=""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xmlns=""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xmlns=""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xmlns=""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xmlns="" id="{158BDCB2-D8C3-4571-8154-76BEA9AE41A8}"/>
              </a:ext>
            </a:extLst>
          </p:cNvPr>
          <p:cNvSpPr>
            <a:spLocks noGrp="1"/>
          </p:cNvSpPr>
          <p:nvPr>
            <p:ph type="sldNum" sz="quarter" idx="22"/>
          </p:nvPr>
        </p:nvSpPr>
        <p:spPr/>
        <p:txBody>
          <a:bodyPr/>
          <a:lstStyle/>
          <a:p>
            <a:fld id="{B5CEABB6-07DC-46E8-9B57-56EC44A396E5}" type="slidenum">
              <a:rPr lang="en-US" smtClean="0"/>
              <a:pPr/>
              <a:t>‹#›</a:t>
            </a:fld>
            <a:endParaRPr lang="en-US" dirty="0"/>
          </a:p>
        </p:txBody>
      </p:sp>
      <p:cxnSp>
        <p:nvCxnSpPr>
          <p:cNvPr id="2" name="Straight Connector 1">
            <a:extLst>
              <a:ext uri="{FF2B5EF4-FFF2-40B4-BE49-F238E27FC236}">
                <a16:creationId xmlns:a16="http://schemas.microsoft.com/office/drawing/2014/main" xmlns="" id="{9298DCF7-7DC1-4618-8133-F63847B0AFE2}"/>
              </a:ext>
              <a:ext uri="{C183D7F6-B498-43B3-948B-1728B52AA6E4}">
                <adec:decorative xmlns:adec="http://schemas.microsoft.com/office/drawing/2017/decorative" xmlns=""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653A6567-233D-4A3B-B52B-DE7E5E35A175}"/>
              </a:ext>
              <a:ext uri="{C183D7F6-B498-43B3-948B-1728B52AA6E4}">
                <adec:decorative xmlns:adec="http://schemas.microsoft.com/office/drawing/2017/decorative" xmlns=""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xmlns="" id="{64D564EB-CA78-42C6-AD76-3C4E7B3AEA8D}"/>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xmlns="" id="{1CFFBB3A-BDCF-4878-8D04-E8BB9A050E71}"/>
              </a:ext>
              <a:ext uri="{C183D7F6-B498-43B3-948B-1728B52AA6E4}">
                <adec:decorative xmlns:adec="http://schemas.microsoft.com/office/drawing/2017/decorative" xmlns="" val="1"/>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xmlns=""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xmlns=""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xmlns=""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xmlns=""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xmlns=""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xmlns=""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xmlns=""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xmlns=""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xmlns=""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xmlns=""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xmlns=""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xmlns=""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xmlns=""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xmlns="" id="{6D8D9106-8780-461D-9091-E074B0A3C956}"/>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xmlns=""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xmlns=""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xmlns=""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xmlns=""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xmlns=""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xmlns="" id="{F05D2CCB-CCFC-4A8A-ADA9-C1E4D13B968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xmlns=""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AEE644D4-F9A4-4237-BD5C-4B97ABA9337E}"/>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xmlns=""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xmlns=""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xmlns=""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xmlns=""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xmlns=""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xmlns=""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xmlns=""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xmlns=""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xmlns=""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xmlns=""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xmlns=""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xmlns=""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xmlns=""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cxnSp>
        <p:nvCxnSpPr>
          <p:cNvPr id="16" name="Straight Connector 15">
            <a:extLst>
              <a:ext uri="{FF2B5EF4-FFF2-40B4-BE49-F238E27FC236}">
                <a16:creationId xmlns:a16="http://schemas.microsoft.com/office/drawing/2014/main" xmlns="" id="{463D7850-C2A6-43CE-BBE4-8E81A0A593BF}"/>
              </a:ext>
              <a:ext uri="{C183D7F6-B498-43B3-948B-1728B52AA6E4}">
                <adec:decorative xmlns:adec="http://schemas.microsoft.com/office/drawing/2017/decorative" xmlns=""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BAD3E03-2E3B-440C-9105-6F9D33006D66}"/>
              </a:ext>
              <a:ext uri="{C183D7F6-B498-43B3-948B-1728B52AA6E4}">
                <adec:decorative xmlns:adec="http://schemas.microsoft.com/office/drawing/2017/decorative" xmlns=""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xmlns=""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xmlns=""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xmlns=""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xmlns="" id="{B38B0D13-BD5F-460B-B337-F4A9342026D0}"/>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xmlns="" id="{BE72876B-D3DA-4462-9E24-3354D8D02A27}"/>
              </a:ext>
              <a:ext uri="{C183D7F6-B498-43B3-948B-1728B52AA6E4}">
                <adec:decorative xmlns:adec="http://schemas.microsoft.com/office/drawing/2017/decorative" xmlns="" val="1"/>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xmlns="" id="{14A539B6-6E3F-41BA-ACE2-76E8BB651636}"/>
              </a:ext>
              <a:ext uri="{C183D7F6-B498-43B3-948B-1728B52AA6E4}">
                <adec:decorative xmlns:adec="http://schemas.microsoft.com/office/drawing/2017/decorative" xmlns="" val="1"/>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xmlns=""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xmlns=""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xmlns=""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pic>
        <p:nvPicPr>
          <p:cNvPr id="11" name="Graphic 10">
            <a:extLst>
              <a:ext uri="{FF2B5EF4-FFF2-40B4-BE49-F238E27FC236}">
                <a16:creationId xmlns:a16="http://schemas.microsoft.com/office/drawing/2014/main" xmlns="" id="{EE24E1DB-1F20-4C28-8069-D9219D1F8BBD}"/>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xmlns=""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xmlns="" id="{AE202E03-5C65-4305-B969-65220AD41002}"/>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xmlns=""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xmlns=""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xmlns=""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xmlns=""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xmlns=""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xmlns=""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xmlns=""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xmlns=""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xmlns=""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xmlns=""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376933483"/>
      </p:ext>
    </p:extLst>
  </p:cSld>
  <p:clrMapOvr>
    <a:masterClrMapping/>
  </p:clrMapOvr>
  <p:extLst>
    <p:ext uri="{DCECCB84-F9BA-43D5-87BE-67443E8EF086}">
      <p15:sldGuideLst xmlns:p15="http://schemas.microsoft.com/office/powerpoint/2012/main" xmlns="">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2" name="Title 1">
            <a:extLst>
              <a:ext uri="{FF2B5EF4-FFF2-40B4-BE49-F238E27FC236}">
                <a16:creationId xmlns:a16="http://schemas.microsoft.com/office/drawing/2014/main" xmlns=""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6" name="Text Placeholder 10">
            <a:extLst>
              <a:ext uri="{FF2B5EF4-FFF2-40B4-BE49-F238E27FC236}">
                <a16:creationId xmlns:a16="http://schemas.microsoft.com/office/drawing/2014/main" xmlns=""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a:t>Year</a:t>
            </a:r>
            <a:endParaRPr lang="en-ZA"/>
          </a:p>
        </p:txBody>
      </p:sp>
      <p:sp>
        <p:nvSpPr>
          <p:cNvPr id="7" name="Text Placeholder 10">
            <a:extLst>
              <a:ext uri="{FF2B5EF4-FFF2-40B4-BE49-F238E27FC236}">
                <a16:creationId xmlns:a16="http://schemas.microsoft.com/office/drawing/2014/main" xmlns=""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8" name="Text Placeholder 10">
            <a:extLst>
              <a:ext uri="{FF2B5EF4-FFF2-40B4-BE49-F238E27FC236}">
                <a16:creationId xmlns:a16="http://schemas.microsoft.com/office/drawing/2014/main" xmlns=""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9" name="Text Placeholder 10">
            <a:extLst>
              <a:ext uri="{FF2B5EF4-FFF2-40B4-BE49-F238E27FC236}">
                <a16:creationId xmlns:a16="http://schemas.microsoft.com/office/drawing/2014/main" xmlns=""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0" name="Text Placeholder 10">
            <a:extLst>
              <a:ext uri="{FF2B5EF4-FFF2-40B4-BE49-F238E27FC236}">
                <a16:creationId xmlns:a16="http://schemas.microsoft.com/office/drawing/2014/main" xmlns=""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1" name="Text Placeholder 10">
            <a:extLst>
              <a:ext uri="{FF2B5EF4-FFF2-40B4-BE49-F238E27FC236}">
                <a16:creationId xmlns:a16="http://schemas.microsoft.com/office/drawing/2014/main" xmlns=""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a:t>Year</a:t>
            </a:r>
            <a:endParaRPr lang="en-ZA"/>
          </a:p>
        </p:txBody>
      </p:sp>
      <p:sp>
        <p:nvSpPr>
          <p:cNvPr id="12" name="Text Placeholder 10">
            <a:extLst>
              <a:ext uri="{FF2B5EF4-FFF2-40B4-BE49-F238E27FC236}">
                <a16:creationId xmlns:a16="http://schemas.microsoft.com/office/drawing/2014/main" xmlns=""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3" name="Text Placeholder 10">
            <a:extLst>
              <a:ext uri="{FF2B5EF4-FFF2-40B4-BE49-F238E27FC236}">
                <a16:creationId xmlns:a16="http://schemas.microsoft.com/office/drawing/2014/main" xmlns=""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4" name="Text Placeholder 10">
            <a:extLst>
              <a:ext uri="{FF2B5EF4-FFF2-40B4-BE49-F238E27FC236}">
                <a16:creationId xmlns:a16="http://schemas.microsoft.com/office/drawing/2014/main" xmlns=""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5" name="Text Placeholder 10">
            <a:extLst>
              <a:ext uri="{FF2B5EF4-FFF2-40B4-BE49-F238E27FC236}">
                <a16:creationId xmlns:a16="http://schemas.microsoft.com/office/drawing/2014/main" xmlns=""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6" name="Text Placeholder 10">
            <a:extLst>
              <a:ext uri="{FF2B5EF4-FFF2-40B4-BE49-F238E27FC236}">
                <a16:creationId xmlns:a16="http://schemas.microsoft.com/office/drawing/2014/main" xmlns=""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7" name="Text Placeholder 10">
            <a:extLst>
              <a:ext uri="{FF2B5EF4-FFF2-40B4-BE49-F238E27FC236}">
                <a16:creationId xmlns:a16="http://schemas.microsoft.com/office/drawing/2014/main" xmlns=""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8" name="Text Placeholder 10">
            <a:extLst>
              <a:ext uri="{FF2B5EF4-FFF2-40B4-BE49-F238E27FC236}">
                <a16:creationId xmlns:a16="http://schemas.microsoft.com/office/drawing/2014/main" xmlns=""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19" name="Text Placeholder 10">
            <a:extLst>
              <a:ext uri="{FF2B5EF4-FFF2-40B4-BE49-F238E27FC236}">
                <a16:creationId xmlns:a16="http://schemas.microsoft.com/office/drawing/2014/main" xmlns=""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0" name="Text Placeholder 10">
            <a:extLst>
              <a:ext uri="{FF2B5EF4-FFF2-40B4-BE49-F238E27FC236}">
                <a16:creationId xmlns:a16="http://schemas.microsoft.com/office/drawing/2014/main" xmlns=""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1" name="Text Placeholder 10">
            <a:extLst>
              <a:ext uri="{FF2B5EF4-FFF2-40B4-BE49-F238E27FC236}">
                <a16:creationId xmlns:a16="http://schemas.microsoft.com/office/drawing/2014/main" xmlns=""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2" name="Text Placeholder 10">
            <a:extLst>
              <a:ext uri="{FF2B5EF4-FFF2-40B4-BE49-F238E27FC236}">
                <a16:creationId xmlns:a16="http://schemas.microsoft.com/office/drawing/2014/main" xmlns=""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3" name="Text Placeholder 10">
            <a:extLst>
              <a:ext uri="{FF2B5EF4-FFF2-40B4-BE49-F238E27FC236}">
                <a16:creationId xmlns:a16="http://schemas.microsoft.com/office/drawing/2014/main" xmlns=""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4" name="Text Placeholder 10">
            <a:extLst>
              <a:ext uri="{FF2B5EF4-FFF2-40B4-BE49-F238E27FC236}">
                <a16:creationId xmlns:a16="http://schemas.microsoft.com/office/drawing/2014/main" xmlns=""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5" name="Text Placeholder 10">
            <a:extLst>
              <a:ext uri="{FF2B5EF4-FFF2-40B4-BE49-F238E27FC236}">
                <a16:creationId xmlns:a16="http://schemas.microsoft.com/office/drawing/2014/main" xmlns=""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6" name="Text Placeholder 10">
            <a:extLst>
              <a:ext uri="{FF2B5EF4-FFF2-40B4-BE49-F238E27FC236}">
                <a16:creationId xmlns:a16="http://schemas.microsoft.com/office/drawing/2014/main" xmlns=""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7" name="Text Placeholder 10">
            <a:extLst>
              <a:ext uri="{FF2B5EF4-FFF2-40B4-BE49-F238E27FC236}">
                <a16:creationId xmlns:a16="http://schemas.microsoft.com/office/drawing/2014/main" xmlns=""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8" name="Text Placeholder 10">
            <a:extLst>
              <a:ext uri="{FF2B5EF4-FFF2-40B4-BE49-F238E27FC236}">
                <a16:creationId xmlns:a16="http://schemas.microsoft.com/office/drawing/2014/main" xmlns=""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29" name="Text Placeholder 10">
            <a:extLst>
              <a:ext uri="{FF2B5EF4-FFF2-40B4-BE49-F238E27FC236}">
                <a16:creationId xmlns:a16="http://schemas.microsoft.com/office/drawing/2014/main" xmlns=""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0" name="Text Placeholder 10">
            <a:extLst>
              <a:ext uri="{FF2B5EF4-FFF2-40B4-BE49-F238E27FC236}">
                <a16:creationId xmlns:a16="http://schemas.microsoft.com/office/drawing/2014/main" xmlns=""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1" name="Text Placeholder 10">
            <a:extLst>
              <a:ext uri="{FF2B5EF4-FFF2-40B4-BE49-F238E27FC236}">
                <a16:creationId xmlns:a16="http://schemas.microsoft.com/office/drawing/2014/main" xmlns=""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a:t>MM</a:t>
            </a:r>
            <a:endParaRPr lang="en-ZA"/>
          </a:p>
        </p:txBody>
      </p:sp>
      <p:sp>
        <p:nvSpPr>
          <p:cNvPr id="32" name="Rectangle 31">
            <a:extLst>
              <a:ext uri="{FF2B5EF4-FFF2-40B4-BE49-F238E27FC236}">
                <a16:creationId xmlns:a16="http://schemas.microsoft.com/office/drawing/2014/main" xmlns=""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xmlns=""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7" name="Footer Placeholder 3">
            <a:extLst>
              <a:ext uri="{FF2B5EF4-FFF2-40B4-BE49-F238E27FC236}">
                <a16:creationId xmlns:a16="http://schemas.microsoft.com/office/drawing/2014/main" xmlns=""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8" name="Slide Number Placeholder 4">
            <a:extLst>
              <a:ext uri="{FF2B5EF4-FFF2-40B4-BE49-F238E27FC236}">
                <a16:creationId xmlns:a16="http://schemas.microsoft.com/office/drawing/2014/main" xmlns=""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7" name="SmartArt Placeholder 6">
            <a:extLst>
              <a:ext uri="{FF2B5EF4-FFF2-40B4-BE49-F238E27FC236}">
                <a16:creationId xmlns:a16="http://schemas.microsoft.com/office/drawing/2014/main" xmlns="" id="{156CA116-0F6E-4EE9-B34F-03BA07161A7A}"/>
              </a:ext>
            </a:extLst>
          </p:cNvPr>
          <p:cNvSpPr>
            <a:spLocks noGrp="1"/>
          </p:cNvSpPr>
          <p:nvPr>
            <p:ph type="dgm" sz="quarter" idx="15"/>
          </p:nvPr>
        </p:nvSpPr>
        <p:spPr>
          <a:xfrm>
            <a:off x="838200" y="2136776"/>
            <a:ext cx="10515600" cy="3697645"/>
          </a:xfrm>
        </p:spPr>
        <p:txBody>
          <a:bodyPr/>
          <a:lstStyle>
            <a:lvl1pPr>
              <a:defRPr>
                <a:solidFill>
                  <a:schemeClr val="tx1">
                    <a:lumMod val="75000"/>
                    <a:lumOff val="25000"/>
                  </a:schemeClr>
                </a:solidFill>
              </a:defRPr>
            </a:lvl1pPr>
          </a:lstStyle>
          <a:p>
            <a:r>
              <a:rPr lang="en-US"/>
              <a:t>Click icon to add SmartArt graphic</a:t>
            </a:r>
            <a:endParaRPr lang="en-US" dirty="0"/>
          </a:p>
        </p:txBody>
      </p:sp>
      <p:sp>
        <p:nvSpPr>
          <p:cNvPr id="2" name="Title 1">
            <a:extLst>
              <a:ext uri="{FF2B5EF4-FFF2-40B4-BE49-F238E27FC236}">
                <a16:creationId xmlns:a16="http://schemas.microsoft.com/office/drawing/2014/main" xmlns=""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xmlns=""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xmlns=""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xmlns=""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xmlns=""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xmlns=""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xmlns=""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xmlns=""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xmlns=""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xmlns=""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xmlns=""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xmlns=""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xmlns=""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xmlns=""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xmlns=""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xmlns=""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cxnSp>
        <p:nvCxnSpPr>
          <p:cNvPr id="10" name="Straight Connector 9">
            <a:extLst>
              <a:ext uri="{FF2B5EF4-FFF2-40B4-BE49-F238E27FC236}">
                <a16:creationId xmlns:a16="http://schemas.microsoft.com/office/drawing/2014/main" xmlns="" id="{4E4B72DA-52CB-4D39-A342-8857B4D959B2}"/>
              </a:ext>
              <a:ext uri="{C183D7F6-B498-43B3-948B-1728B52AA6E4}">
                <adec:decorative xmlns:adec="http://schemas.microsoft.com/office/drawing/2017/decorative" xmlns=""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21D9BCDA-DFB7-41A4-A7C7-CEE86CEDCBE5}"/>
              </a:ext>
              <a:ext uri="{C183D7F6-B498-43B3-948B-1728B52AA6E4}">
                <adec:decorative xmlns:adec="http://schemas.microsoft.com/office/drawing/2017/decorative" xmlns=""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xmlns="">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xmlns=""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xmlns=""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xmlns=""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xmlns=""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xmlns=""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xmlns=""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xmlns=""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xmlns=""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xmlns=""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xmlns=""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xmlns=""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xmlns=""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xmlns=""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xmlns=""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xmlns=""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xmlns=""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xmlns=""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xmlns=""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xmlns=""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xmlns=""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xmlns=""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xmlns=""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xmlns=""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pPr/>
              <a:t>‹#›</a:t>
            </a:fld>
            <a:endParaRPr lang="en-US" dirty="0"/>
          </a:p>
        </p:txBody>
      </p:sp>
      <p:pic>
        <p:nvPicPr>
          <p:cNvPr id="13" name="Graphic 12">
            <a:extLst>
              <a:ext uri="{FF2B5EF4-FFF2-40B4-BE49-F238E27FC236}">
                <a16:creationId xmlns:a16="http://schemas.microsoft.com/office/drawing/2014/main" xmlns="" id="{B0DFD584-E5CF-41EF-B51E-679CE22DDF93}"/>
              </a:ext>
              <a:ext uri="{C183D7F6-B498-43B3-948B-1728B52AA6E4}">
                <adec:decorative xmlns:adec="http://schemas.microsoft.com/office/drawing/2017/decorative" xmlns="" val="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xmlns="" id="{E5C02DDF-25A6-42C7-9525-F279CE2095C0}"/>
              </a:ext>
              <a:ext uri="{C183D7F6-B498-43B3-948B-1728B52AA6E4}">
                <adec:decorative xmlns:adec="http://schemas.microsoft.com/office/drawing/2017/decorative" xmlns="" val="1"/>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xmlns=""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xmlns=""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xmlns=""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xmlns=""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xmlns=""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xmlns=""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xmlns=""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xmlns=""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xmlns=""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xmlns=""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xmlns=""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xmlns=""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xmlns=""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xmlns="" id="{463D7850-C2A6-43CE-BBE4-8E81A0A593BF}"/>
              </a:ext>
              <a:ext uri="{C183D7F6-B498-43B3-948B-1728B52AA6E4}">
                <adec:decorative xmlns:adec="http://schemas.microsoft.com/office/drawing/2017/decorative" xmlns=""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BAD3E03-2E3B-440C-9105-6F9D33006D66}"/>
              </a:ext>
              <a:ext uri="{C183D7F6-B498-43B3-948B-1728B52AA6E4}">
                <adec:decorative xmlns:adec="http://schemas.microsoft.com/office/drawing/2017/decorative" xmlns=""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xmlns=""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xmlns=""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xmlns=""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xmlns=""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xmlns=""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616316768"/>
      </p:ext>
    </p:extLst>
  </p:cSld>
  <p:clrMapOvr>
    <a:masterClrMapping/>
  </p:clrMapOvr>
  <p:extLst>
    <p:ext uri="{DCECCB84-F9BA-43D5-87BE-67443E8EF086}">
      <p15:sldGuideLst xmlns:p15="http://schemas.microsoft.com/office/powerpoint/2012/main" xmlns="">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xmlns=""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xmlns="" id="{ED3361C9-310A-4255-A94E-B77588962DA5}"/>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xmlns=""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xmlns=""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xmlns=""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xmlns=""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xmlns=""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6.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1901B20D-4C28-4DA3-ABBD-718C22A5E58B}"/>
              </a:ext>
            </a:extLst>
          </p:cNvPr>
          <p:cNvSpPr>
            <a:spLocks noGrp="1"/>
          </p:cNvSpPr>
          <p:nvPr>
            <p:ph type="subTitle" idx="1"/>
          </p:nvPr>
        </p:nvSpPr>
        <p:spPr>
          <a:xfrm>
            <a:off x="821803" y="5266919"/>
            <a:ext cx="10521387" cy="1216242"/>
          </a:xfrm>
        </p:spPr>
        <p:txBody>
          <a:bodyPr>
            <a:normAutofit/>
          </a:bodyPr>
          <a:lstStyle/>
          <a:p>
            <a:pPr lvl="0" algn="ctr" eaLnBrk="0" fontAlgn="base" hangingPunct="0">
              <a:spcBef>
                <a:spcPct val="0"/>
              </a:spcBef>
              <a:spcAft>
                <a:spcPct val="0"/>
              </a:spcAft>
            </a:pPr>
            <a:r>
              <a:rPr lang="en-IN" sz="2400" b="1" dirty="0" smtClean="0">
                <a:solidFill>
                  <a:srgbClr val="0000CC"/>
                </a:solidFill>
                <a:latin typeface="Times New Roman" pitchFamily="18" charset="0"/>
              </a:rPr>
              <a:t>Presentation for Academic Year 2023-24</a:t>
            </a:r>
            <a:endParaRPr lang="en-US" altLang="zh-CN" sz="2400" b="1" dirty="0" smtClean="0">
              <a:solidFill>
                <a:srgbClr val="0000CC"/>
              </a:solidFill>
              <a:latin typeface="Times New Roman" pitchFamily="18" charset="0"/>
              <a:ea typeface="宋体"/>
              <a:cs typeface="Times New Roman" pitchFamily="18" charset="0"/>
            </a:endParaRPr>
          </a:p>
          <a:p>
            <a:endParaRPr lang="en-US" dirty="0"/>
          </a:p>
        </p:txBody>
      </p:sp>
      <p:sp>
        <p:nvSpPr>
          <p:cNvPr id="5" name="Title 1"/>
          <p:cNvSpPr txBox="1">
            <a:spLocks noChangeArrowheads="1"/>
          </p:cNvSpPr>
          <p:nvPr/>
        </p:nvSpPr>
        <p:spPr>
          <a:xfrm>
            <a:off x="457200" y="206375"/>
            <a:ext cx="6781800" cy="857250"/>
          </a:xfrm>
          <a:prstGeom prst="rect">
            <a:avLst/>
          </a:prstGeom>
        </p:spPr>
        <p:txBody>
          <a:bodyPr vert="horz" lIns="91440" tIns="45720" rIns="91440" bIns="4572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3600" b="0" i="0" u="none" strike="noStrike" kern="1200" cap="all" spc="150" normalizeH="0" baseline="0" noProof="0" smtClean="0">
                <a:ln>
                  <a:noFill/>
                </a:ln>
                <a:solidFill>
                  <a:schemeClr val="tx1">
                    <a:lumMod val="75000"/>
                    <a:lumOff val="25000"/>
                  </a:schemeClr>
                </a:solidFill>
                <a:effectLst/>
                <a:uLnTx/>
                <a:uFillTx/>
                <a:latin typeface="+mj-lt"/>
                <a:ea typeface="+mj-ea"/>
                <a:cs typeface="+mj-cs"/>
              </a:rPr>
              <a:t> </a:t>
            </a:r>
          </a:p>
        </p:txBody>
      </p:sp>
      <p:sp>
        <p:nvSpPr>
          <p:cNvPr id="6" name="TextBox 6"/>
          <p:cNvSpPr txBox="1">
            <a:spLocks noChangeArrowheads="1"/>
          </p:cNvSpPr>
          <p:nvPr/>
        </p:nvSpPr>
        <p:spPr bwMode="auto">
          <a:xfrm flipH="1">
            <a:off x="1120140" y="1084114"/>
            <a:ext cx="9845040" cy="461963"/>
          </a:xfrm>
          <a:prstGeom prst="rect">
            <a:avLst/>
          </a:prstGeom>
          <a:noFill/>
          <a:ln w="9525">
            <a:noFill/>
            <a:miter lim="800000"/>
            <a:headEnd/>
            <a:tailEnd/>
          </a:ln>
        </p:spPr>
        <p:txBody>
          <a:bodyPr wrap="square">
            <a:spAutoFit/>
          </a:bodyPr>
          <a:lstStyle/>
          <a:p>
            <a:pPr algn="ctr" eaLnBrk="0" hangingPunct="0"/>
            <a:r>
              <a:rPr lang="en-US" altLang="en-US" sz="2400" b="1" dirty="0">
                <a:solidFill>
                  <a:schemeClr val="tx2"/>
                </a:solidFill>
                <a:latin typeface="Times New Roman" pitchFamily="18" charset="0"/>
              </a:rPr>
              <a:t>Department of Computer Science &amp; Engineering</a:t>
            </a:r>
            <a:endParaRPr lang="en-US" altLang="en-US" sz="2400" dirty="0">
              <a:solidFill>
                <a:schemeClr val="tx2"/>
              </a:solidFill>
              <a:latin typeface="Times New Roman" pitchFamily="18" charset="0"/>
            </a:endParaRPr>
          </a:p>
        </p:txBody>
      </p:sp>
      <p:sp>
        <p:nvSpPr>
          <p:cNvPr id="7" name="Rectangle 7"/>
          <p:cNvSpPr>
            <a:spLocks noChangeArrowheads="1"/>
          </p:cNvSpPr>
          <p:nvPr/>
        </p:nvSpPr>
        <p:spPr bwMode="auto">
          <a:xfrm>
            <a:off x="1760220" y="3379808"/>
            <a:ext cx="7432675" cy="1754326"/>
          </a:xfrm>
          <a:prstGeom prst="rect">
            <a:avLst/>
          </a:prstGeom>
          <a:noFill/>
          <a:ln w="9525">
            <a:noFill/>
            <a:miter lim="800000"/>
            <a:headEnd/>
            <a:tailEnd/>
          </a:ln>
        </p:spPr>
        <p:txBody>
          <a:bodyPr wrap="square">
            <a:spAutoFit/>
          </a:bodyPr>
          <a:lstStyle/>
          <a:p>
            <a:pPr algn="ctr" eaLnBrk="0" hangingPunct="0"/>
            <a:r>
              <a:rPr lang="en-IN" altLang="en-US" b="1" dirty="0" smtClean="0">
                <a:latin typeface="Times New Roman" pitchFamily="18" charset="0"/>
              </a:rPr>
              <a:t> By</a:t>
            </a:r>
            <a:endParaRPr lang="en-IN" altLang="en-US" b="1" dirty="0">
              <a:latin typeface="Times New Roman" pitchFamily="18" charset="0"/>
            </a:endParaRPr>
          </a:p>
          <a:p>
            <a:pPr eaLnBrk="0" hangingPunct="0"/>
            <a:r>
              <a:rPr lang="en-IN" altLang="en-US" dirty="0">
                <a:latin typeface="Times New Roman" pitchFamily="18" charset="0"/>
              </a:rPr>
              <a:t>	                   </a:t>
            </a:r>
            <a:r>
              <a:rPr lang="en-IN" altLang="en-US" dirty="0" smtClean="0">
                <a:latin typeface="Times New Roman" pitchFamily="18" charset="0"/>
              </a:rPr>
              <a:t>       MD </a:t>
            </a:r>
            <a:r>
              <a:rPr lang="en-IN" altLang="en-US" dirty="0">
                <a:latin typeface="Times New Roman" pitchFamily="18" charset="0"/>
              </a:rPr>
              <a:t>JUNAID ALI(</a:t>
            </a:r>
            <a:r>
              <a:rPr lang="en-US" altLang="en-US" dirty="0">
                <a:latin typeface="Times New Roman" pitchFamily="18" charset="0"/>
              </a:rPr>
              <a:t>3GN20CS040)</a:t>
            </a:r>
          </a:p>
          <a:p>
            <a:pPr eaLnBrk="0" hangingPunct="0"/>
            <a:r>
              <a:rPr lang="en-GB" altLang="en-US" dirty="0">
                <a:latin typeface="Times New Roman" pitchFamily="18" charset="0"/>
              </a:rPr>
              <a:t>                                 </a:t>
            </a:r>
            <a:r>
              <a:rPr lang="en-GB" altLang="en-US" dirty="0" smtClean="0">
                <a:latin typeface="Times New Roman" pitchFamily="18" charset="0"/>
              </a:rPr>
              <a:t>       </a:t>
            </a:r>
            <a:r>
              <a:rPr lang="en-GB" altLang="en-US" dirty="0">
                <a:latin typeface="Times New Roman" pitchFamily="18" charset="0"/>
              </a:rPr>
              <a:t>SYED JUNAID ALI(3GN20CS126</a:t>
            </a:r>
            <a:r>
              <a:rPr lang="en-GB" altLang="en-US" dirty="0" smtClean="0">
                <a:latin typeface="Times New Roman" pitchFamily="18" charset="0"/>
              </a:rPr>
              <a:t>)</a:t>
            </a:r>
          </a:p>
          <a:p>
            <a:pPr eaLnBrk="0" hangingPunct="0"/>
            <a:endParaRPr lang="en-GB" altLang="en-US" dirty="0" smtClean="0">
              <a:latin typeface="Times New Roman" pitchFamily="18" charset="0"/>
            </a:endParaRPr>
          </a:p>
          <a:p>
            <a:pPr eaLnBrk="0" hangingPunct="0"/>
            <a:endParaRPr lang="en-IN" altLang="en-US" dirty="0">
              <a:latin typeface="Times New Roman" pitchFamily="18" charset="0"/>
            </a:endParaRPr>
          </a:p>
          <a:p>
            <a:pPr eaLnBrk="0" hangingPunct="0"/>
            <a:endParaRPr lang="en-US" altLang="zh-CN" dirty="0">
              <a:latin typeface="Times New Roman" pitchFamily="18" charset="0"/>
              <a:cs typeface="Times New Roman" pitchFamily="18" charset="0"/>
            </a:endParaRPr>
          </a:p>
        </p:txBody>
      </p:sp>
      <p:pic>
        <p:nvPicPr>
          <p:cNvPr id="8" name="Picture 8" descr="vtul-291x300.png"/>
          <p:cNvPicPr>
            <a:picLocks noChangeAspect="1"/>
          </p:cNvPicPr>
          <p:nvPr/>
        </p:nvPicPr>
        <p:blipFill>
          <a:blip r:embed="rId2"/>
          <a:srcRect/>
          <a:stretch>
            <a:fillRect/>
          </a:stretch>
        </p:blipFill>
        <p:spPr bwMode="auto">
          <a:xfrm>
            <a:off x="9815718" y="194021"/>
            <a:ext cx="739775" cy="762000"/>
          </a:xfrm>
          <a:prstGeom prst="rect">
            <a:avLst/>
          </a:prstGeom>
          <a:noFill/>
          <a:ln w="9525">
            <a:noFill/>
            <a:miter lim="800000"/>
            <a:headEnd/>
            <a:tailEnd/>
          </a:ln>
        </p:spPr>
      </p:pic>
      <p:pic>
        <p:nvPicPr>
          <p:cNvPr id="9" name="Picture 9" descr="nba.png"/>
          <p:cNvPicPr>
            <a:picLocks noChangeAspect="1"/>
          </p:cNvPicPr>
          <p:nvPr/>
        </p:nvPicPr>
        <p:blipFill>
          <a:blip r:embed="rId3"/>
          <a:srcRect/>
          <a:stretch>
            <a:fillRect/>
          </a:stretch>
        </p:blipFill>
        <p:spPr bwMode="auto">
          <a:xfrm>
            <a:off x="10878881" y="232699"/>
            <a:ext cx="868362" cy="685800"/>
          </a:xfrm>
          <a:prstGeom prst="rect">
            <a:avLst/>
          </a:prstGeom>
          <a:noFill/>
          <a:ln w="9525">
            <a:noFill/>
            <a:miter lim="800000"/>
            <a:headEnd/>
            <a:tailEnd/>
          </a:ln>
        </p:spPr>
      </p:pic>
      <p:sp>
        <p:nvSpPr>
          <p:cNvPr id="10" name="Rectangle 7"/>
          <p:cNvSpPr>
            <a:spLocks noChangeArrowheads="1"/>
          </p:cNvSpPr>
          <p:nvPr/>
        </p:nvSpPr>
        <p:spPr bwMode="auto">
          <a:xfrm>
            <a:off x="2056629" y="4155311"/>
            <a:ext cx="7432675" cy="1200329"/>
          </a:xfrm>
          <a:prstGeom prst="rect">
            <a:avLst/>
          </a:prstGeom>
          <a:noFill/>
          <a:ln w="9525">
            <a:noFill/>
            <a:miter lim="800000"/>
            <a:headEnd/>
            <a:tailEnd/>
          </a:ln>
        </p:spPr>
        <p:txBody>
          <a:bodyPr wrap="square">
            <a:spAutoFit/>
          </a:bodyPr>
          <a:lstStyle/>
          <a:p>
            <a:pPr algn="ctr" eaLnBrk="0" hangingPunct="0"/>
            <a:endParaRPr lang="en-IN" altLang="en-US" dirty="0" smtClean="0">
              <a:latin typeface="Times New Roman" pitchFamily="18" charset="0"/>
            </a:endParaRPr>
          </a:p>
          <a:p>
            <a:pPr algn="ctr" eaLnBrk="0" hangingPunct="0"/>
            <a:r>
              <a:rPr lang="en-IN" altLang="en-US" dirty="0" smtClean="0">
                <a:latin typeface="Times New Roman" pitchFamily="18" charset="0"/>
              </a:rPr>
              <a:t>Under the Guidance of</a:t>
            </a:r>
          </a:p>
          <a:p>
            <a:pPr algn="ctr" eaLnBrk="0" hangingPunct="0"/>
            <a:r>
              <a:rPr lang="en-IN" altLang="en-US" dirty="0" smtClean="0">
                <a:latin typeface="Times New Roman" pitchFamily="18" charset="0"/>
              </a:rPr>
              <a:t>Prof. REEBA RANI </a:t>
            </a:r>
          </a:p>
          <a:p>
            <a:pPr algn="ctr" eaLnBrk="0" hangingPunct="0"/>
            <a:endParaRPr lang="en-US" altLang="zh-CN" dirty="0">
              <a:latin typeface="Times New Roman" pitchFamily="18" charset="0"/>
              <a:cs typeface="Times New Roman" pitchFamily="18" charset="0"/>
            </a:endParaRPr>
          </a:p>
        </p:txBody>
      </p:sp>
      <p:sp>
        <p:nvSpPr>
          <p:cNvPr id="11" name="TextBox 6"/>
          <p:cNvSpPr txBox="1">
            <a:spLocks noChangeArrowheads="1"/>
          </p:cNvSpPr>
          <p:nvPr/>
        </p:nvSpPr>
        <p:spPr bwMode="auto">
          <a:xfrm flipH="1">
            <a:off x="2072640" y="1786888"/>
            <a:ext cx="7450138" cy="1631216"/>
          </a:xfrm>
          <a:prstGeom prst="rect">
            <a:avLst/>
          </a:prstGeom>
          <a:noFill/>
          <a:ln w="9525">
            <a:noFill/>
            <a:miter lim="800000"/>
            <a:headEnd/>
            <a:tailEnd/>
          </a:ln>
        </p:spPr>
        <p:txBody>
          <a:bodyPr wrap="square">
            <a:spAutoFit/>
          </a:bodyPr>
          <a:lstStyle/>
          <a:p>
            <a:pPr algn="ctr" eaLnBrk="0" hangingPunct="0"/>
            <a:r>
              <a:rPr lang="en-US" altLang="en-US" sz="2800" b="1" dirty="0" smtClean="0">
                <a:latin typeface="Times New Roman" pitchFamily="18" charset="0"/>
              </a:rPr>
              <a:t>    “</a:t>
            </a:r>
            <a:r>
              <a:rPr lang="en-US" altLang="en-US" sz="2800" b="1" dirty="0">
                <a:latin typeface="Times New Roman" pitchFamily="18" charset="0"/>
              </a:rPr>
              <a:t>IMAGE-STEGANOGRAPHY</a:t>
            </a:r>
            <a:r>
              <a:rPr lang="en-US" altLang="en-US" sz="2800" b="1" dirty="0" smtClean="0">
                <a:latin typeface="Times New Roman" pitchFamily="18" charset="0"/>
              </a:rPr>
              <a:t>”</a:t>
            </a:r>
          </a:p>
          <a:p>
            <a:pPr algn="ctr" eaLnBrk="0" hangingPunct="0"/>
            <a:r>
              <a:rPr lang="en-GB" dirty="0" smtClean="0">
                <a:latin typeface="Times New Roman" pitchFamily="18" charset="0"/>
                <a:cs typeface="Times New Roman" pitchFamily="18" charset="0"/>
              </a:rPr>
              <a:t>SPONSORED BY</a:t>
            </a:r>
          </a:p>
          <a:p>
            <a:pPr algn="ctr" eaLnBrk="0" hangingPunct="0"/>
            <a:r>
              <a:rPr lang="en-GB" dirty="0" smtClean="0">
                <a:latin typeface="Times New Roman" pitchFamily="18" charset="0"/>
                <a:cs typeface="Times New Roman" pitchFamily="18" charset="0"/>
              </a:rPr>
              <a:t> “Karnataka State Council for Science and Technology”</a:t>
            </a:r>
          </a:p>
          <a:p>
            <a:pPr algn="ctr" eaLnBrk="0" hangingPunct="0"/>
            <a:r>
              <a:rPr lang="en-GB" dirty="0" smtClean="0">
                <a:latin typeface="Times New Roman" pitchFamily="18" charset="0"/>
                <a:cs typeface="Times New Roman" pitchFamily="18" charset="0"/>
              </a:rPr>
              <a:t> Student Project Programme (SPP- 47th SERIES: 2023 - 2024)</a:t>
            </a:r>
          </a:p>
          <a:p>
            <a:pPr algn="ctr" eaLnBrk="0" hangingPunct="0"/>
            <a:r>
              <a:rPr lang="en-GB" dirty="0" smtClean="0">
                <a:latin typeface="Times New Roman" pitchFamily="18" charset="0"/>
                <a:cs typeface="Times New Roman" pitchFamily="18" charset="0"/>
              </a:rPr>
              <a:t> </a:t>
            </a:r>
            <a:r>
              <a:rPr lang="en-GB" b="1" dirty="0" smtClean="0">
                <a:latin typeface="Times New Roman" pitchFamily="18" charset="0"/>
                <a:cs typeface="Times New Roman" pitchFamily="18" charset="0"/>
              </a:rPr>
              <a:t>KSCST REF NO: 47S_BE_1324</a:t>
            </a:r>
            <a:endParaRPr lang="en-US" altLang="en-US" b="1" dirty="0">
              <a:latin typeface="Times New Roman" pitchFamily="18" charset="0"/>
              <a:cs typeface="Times New Roman" pitchFamily="18" charset="0"/>
            </a:endParaRPr>
          </a:p>
        </p:txBody>
      </p:sp>
      <p:pic>
        <p:nvPicPr>
          <p:cNvPr id="12" name="Picture 7" descr="collegelogosvg.png"/>
          <p:cNvPicPr>
            <a:picLocks noChangeAspect="1"/>
          </p:cNvPicPr>
          <p:nvPr/>
        </p:nvPicPr>
        <p:blipFill>
          <a:blip r:embed="rId4"/>
          <a:srcRect/>
          <a:stretch>
            <a:fillRect/>
          </a:stretch>
        </p:blipFill>
        <p:spPr bwMode="auto">
          <a:xfrm>
            <a:off x="0" y="0"/>
            <a:ext cx="9555480" cy="1135380"/>
          </a:xfrm>
          <a:prstGeom prst="rect">
            <a:avLst/>
          </a:prstGeom>
          <a:noFill/>
          <a:ln w="9525">
            <a:noFill/>
            <a:miter lim="800000"/>
            <a:headEnd/>
            <a:tailEnd/>
          </a:ln>
        </p:spPr>
      </p:pic>
    </p:spTree>
    <p:extLst>
      <p:ext uri="{BB962C8B-B14F-4D97-AF65-F5344CB8AC3E}">
        <p14:creationId xmlns:p14="http://schemas.microsoft.com/office/powerpoint/2010/main" xmlns=""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19F29B-F233-48AF-8261-F33A4E079E3E}"/>
              </a:ext>
              <a:ext uri="{C183D7F6-B498-43B3-948B-1728B52AA6E4}">
                <adec:decorative xmlns:adec="http://schemas.microsoft.com/office/drawing/2017/decorative" xmlns="" val="0"/>
              </a:ext>
            </a:extLst>
          </p:cNvPr>
          <p:cNvSpPr>
            <a:spLocks noGrp="1"/>
          </p:cNvSpPr>
          <p:nvPr>
            <p:ph type="title"/>
          </p:nvPr>
        </p:nvSpPr>
        <p:spPr>
          <a:xfrm>
            <a:off x="472298" y="451413"/>
            <a:ext cx="5720158" cy="501738"/>
          </a:xfrm>
        </p:spPr>
        <p:txBody>
          <a:bodyPr>
            <a:normAutofit fontScale="90000"/>
          </a:bodyPr>
          <a:lstStyle/>
          <a:p>
            <a:r>
              <a:rPr lang="en-IN" sz="3600" b="1" dirty="0" smtClean="0">
                <a:solidFill>
                  <a:schemeClr val="tx1">
                    <a:lumMod val="95000"/>
                    <a:lumOff val="5000"/>
                  </a:schemeClr>
                </a:solidFill>
                <a:latin typeface="Times New Roman" panose="02020603050405020304" pitchFamily="18" charset="0"/>
                <a:cs typeface="Times New Roman" panose="02020603050405020304" pitchFamily="18" charset="0"/>
              </a:rPr>
              <a:t>OBJECTIVES</a:t>
            </a:r>
            <a:endParaRPr lang="en-ZA" sz="3600" dirty="0"/>
          </a:p>
        </p:txBody>
      </p:sp>
      <p:sp>
        <p:nvSpPr>
          <p:cNvPr id="3" name="Subtitle 2">
            <a:extLst>
              <a:ext uri="{FF2B5EF4-FFF2-40B4-BE49-F238E27FC236}">
                <a16:creationId xmlns:a16="http://schemas.microsoft.com/office/drawing/2014/main" xmlns="" id="{35E3EA69-4E0E-41BD-8095-A124225A2647}"/>
              </a:ext>
              <a:ext uri="{C183D7F6-B498-43B3-948B-1728B52AA6E4}">
                <adec:decorative xmlns:adec="http://schemas.microsoft.com/office/drawing/2017/decorative" xmlns="" val="0"/>
              </a:ext>
            </a:extLst>
          </p:cNvPr>
          <p:cNvSpPr>
            <a:spLocks noGrp="1"/>
          </p:cNvSpPr>
          <p:nvPr>
            <p:ph idx="1"/>
          </p:nvPr>
        </p:nvSpPr>
        <p:spPr>
          <a:xfrm>
            <a:off x="392089" y="1179615"/>
            <a:ext cx="11136295" cy="5279058"/>
          </a:xfrm>
        </p:spPr>
        <p:txBody>
          <a:bodyPr>
            <a:normAutofit fontScale="92500" lnSpcReduction="20000"/>
          </a:bodyPr>
          <a:lstStyle/>
          <a:p>
            <a:pPr algn="just">
              <a:lnSpc>
                <a:spcPct val="150000"/>
              </a:lnSpc>
              <a:defRPr/>
            </a:pPr>
            <a:r>
              <a:rPr lang="en-US" sz="1700" dirty="0" smtClean="0">
                <a:solidFill>
                  <a:schemeClr val="tx1"/>
                </a:solidFill>
                <a:latin typeface="Times New Roman" pitchFamily="18" charset="0"/>
                <a:cs typeface="Times New Roman" pitchFamily="18" charset="0"/>
              </a:rPr>
              <a:t>Aim is to design and implement a robust image </a:t>
            </a:r>
            <a:r>
              <a:rPr lang="en-US" sz="1700" dirty="0" err="1" smtClean="0">
                <a:solidFill>
                  <a:schemeClr val="tx1"/>
                </a:solidFill>
                <a:latin typeface="Times New Roman" pitchFamily="18" charset="0"/>
                <a:cs typeface="Times New Roman" pitchFamily="18" charset="0"/>
              </a:rPr>
              <a:t>steganography</a:t>
            </a:r>
            <a:r>
              <a:rPr lang="en-US" sz="1700" dirty="0" smtClean="0">
                <a:solidFill>
                  <a:schemeClr val="tx1"/>
                </a:solidFill>
                <a:latin typeface="Times New Roman" pitchFamily="18" charset="0"/>
                <a:cs typeface="Times New Roman" pitchFamily="18" charset="0"/>
              </a:rPr>
              <a:t> system that ensures secure and imperceptible embedding of data within digital images, enabling confidential communication. The project aims to develop a practical, secure, and user-friendly image </a:t>
            </a:r>
            <a:r>
              <a:rPr lang="en-US" sz="1700" dirty="0" err="1" smtClean="0">
                <a:solidFill>
                  <a:schemeClr val="tx1"/>
                </a:solidFill>
                <a:latin typeface="Times New Roman" pitchFamily="18" charset="0"/>
                <a:cs typeface="Times New Roman" pitchFamily="18" charset="0"/>
              </a:rPr>
              <a:t>steganography</a:t>
            </a:r>
            <a:r>
              <a:rPr lang="en-US" sz="1700" dirty="0" smtClean="0">
                <a:solidFill>
                  <a:schemeClr val="tx1"/>
                </a:solidFill>
                <a:latin typeface="Times New Roman" pitchFamily="18" charset="0"/>
                <a:cs typeface="Times New Roman" pitchFamily="18" charset="0"/>
              </a:rPr>
              <a:t> system that aligns with ethical standards and addresses real-world needs for secure communication and data concealment within digital images.</a:t>
            </a:r>
          </a:p>
          <a:p>
            <a:pPr algn="just">
              <a:lnSpc>
                <a:spcPct val="150000"/>
              </a:lnSpc>
              <a:defRPr/>
            </a:pPr>
            <a:r>
              <a:rPr lang="en-US" sz="1700" dirty="0" smtClean="0">
                <a:solidFill>
                  <a:schemeClr val="tx1"/>
                </a:solidFill>
                <a:latin typeface="Times New Roman" pitchFamily="18" charset="0"/>
                <a:cs typeface="Times New Roman" pitchFamily="18" charset="0"/>
              </a:rPr>
              <a:t>      The primary objectives of the </a:t>
            </a:r>
            <a:r>
              <a:rPr lang="en-US" sz="1700" dirty="0" err="1" smtClean="0">
                <a:solidFill>
                  <a:schemeClr val="tx1"/>
                </a:solidFill>
                <a:latin typeface="Times New Roman" pitchFamily="18" charset="0"/>
                <a:cs typeface="Times New Roman" pitchFamily="18" charset="0"/>
              </a:rPr>
              <a:t>steganography</a:t>
            </a:r>
            <a:r>
              <a:rPr lang="en-US" sz="1700" dirty="0" smtClean="0">
                <a:solidFill>
                  <a:schemeClr val="tx1"/>
                </a:solidFill>
                <a:latin typeface="Times New Roman" pitchFamily="18" charset="0"/>
                <a:cs typeface="Times New Roman" pitchFamily="18" charset="0"/>
              </a:rPr>
              <a:t> are as follows:</a:t>
            </a:r>
          </a:p>
          <a:p>
            <a:pPr marL="342900" indent="-342900" algn="just">
              <a:lnSpc>
                <a:spcPct val="100000"/>
              </a:lnSpc>
              <a:buFont typeface="+mj-lt"/>
              <a:buAutoNum type="arabicPeriod"/>
              <a:defRPr/>
            </a:pPr>
            <a:r>
              <a:rPr lang="en-US" sz="1700" dirty="0" smtClean="0">
                <a:solidFill>
                  <a:schemeClr val="tx1"/>
                </a:solidFill>
                <a:latin typeface="Times New Roman" pitchFamily="18" charset="0"/>
                <a:cs typeface="Times New Roman" pitchFamily="18" charset="0"/>
              </a:rPr>
              <a:t>Developing a method to encode data into a cipher text.</a:t>
            </a:r>
          </a:p>
          <a:p>
            <a:pPr marL="342900" indent="-342900" algn="just">
              <a:lnSpc>
                <a:spcPct val="100000"/>
              </a:lnSpc>
              <a:buFont typeface="+mj-lt"/>
              <a:buAutoNum type="arabicPeriod"/>
              <a:defRPr/>
            </a:pPr>
            <a:r>
              <a:rPr lang="en-US" sz="1700" dirty="0" smtClean="0">
                <a:solidFill>
                  <a:schemeClr val="tx1"/>
                </a:solidFill>
                <a:latin typeface="Times New Roman" pitchFamily="18" charset="0"/>
                <a:cs typeface="Times New Roman" pitchFamily="18" charset="0"/>
              </a:rPr>
              <a:t>Developing a method to encode data into a cover image and decode the data from the </a:t>
            </a:r>
            <a:r>
              <a:rPr lang="en-US" sz="1700" dirty="0" err="1" smtClean="0">
                <a:solidFill>
                  <a:schemeClr val="tx1"/>
                </a:solidFill>
                <a:latin typeface="Times New Roman" pitchFamily="18" charset="0"/>
                <a:cs typeface="Times New Roman" pitchFamily="18" charset="0"/>
              </a:rPr>
              <a:t>stego</a:t>
            </a:r>
            <a:r>
              <a:rPr lang="en-US" sz="1700" dirty="0" smtClean="0">
                <a:solidFill>
                  <a:schemeClr val="tx1"/>
                </a:solidFill>
                <a:latin typeface="Times New Roman" pitchFamily="18" charset="0"/>
                <a:cs typeface="Times New Roman" pitchFamily="18" charset="0"/>
              </a:rPr>
              <a:t>- image.</a:t>
            </a:r>
          </a:p>
          <a:p>
            <a:pPr marL="342900" indent="-342900" algn="just">
              <a:lnSpc>
                <a:spcPct val="100000"/>
              </a:lnSpc>
              <a:buFont typeface="+mj-lt"/>
              <a:buAutoNum type="arabicPeriod"/>
              <a:defRPr/>
            </a:pPr>
            <a:r>
              <a:rPr lang="en-US" sz="1700" dirty="0" smtClean="0">
                <a:solidFill>
                  <a:schemeClr val="tx1"/>
                </a:solidFill>
                <a:latin typeface="Times New Roman" pitchFamily="18" charset="0"/>
                <a:cs typeface="Times New Roman" pitchFamily="18" charset="0"/>
              </a:rPr>
              <a:t>Combining these both to form a secured communication system.</a:t>
            </a:r>
            <a:endParaRPr lang="en-GB" altLang="en-US" sz="1700" dirty="0" smtClean="0">
              <a:solidFill>
                <a:schemeClr val="tx1"/>
              </a:solidFill>
              <a:latin typeface="Times New Roman" pitchFamily="18" charset="0"/>
              <a:cs typeface="Times New Roman" pitchFamily="18" charset="0"/>
            </a:endParaRPr>
          </a:p>
          <a:p>
            <a:pPr marL="342900" indent="-342900" algn="just">
              <a:buFont typeface="+mj-lt"/>
              <a:buAutoNum type="arabicPeriod"/>
              <a:defRPr/>
            </a:pPr>
            <a:r>
              <a:rPr lang="en-US" sz="1700" dirty="0" smtClean="0">
                <a:solidFill>
                  <a:schemeClr val="tx1"/>
                </a:solidFill>
                <a:latin typeface="Times New Roman" pitchFamily="18" charset="0"/>
                <a:cs typeface="Times New Roman" pitchFamily="18" charset="0"/>
              </a:rPr>
              <a:t>Algorithm implementation</a:t>
            </a:r>
          </a:p>
          <a:p>
            <a:pPr marL="342900" indent="-342900" algn="just">
              <a:buFont typeface="+mj-lt"/>
              <a:buAutoNum type="arabicPeriod"/>
              <a:defRPr/>
            </a:pPr>
            <a:r>
              <a:rPr lang="en-US" sz="1700" dirty="0" smtClean="0">
                <a:solidFill>
                  <a:schemeClr val="tx1"/>
                </a:solidFill>
                <a:latin typeface="Times New Roman" pitchFamily="18" charset="0"/>
                <a:cs typeface="Times New Roman" pitchFamily="18" charset="0"/>
              </a:rPr>
              <a:t>Capacity analysis</a:t>
            </a:r>
          </a:p>
          <a:p>
            <a:pPr marL="342900" indent="-342900" algn="just">
              <a:buFont typeface="+mj-lt"/>
              <a:buAutoNum type="arabicPeriod"/>
              <a:defRPr/>
            </a:pPr>
            <a:r>
              <a:rPr lang="en-US" sz="1700" dirty="0" smtClean="0">
                <a:solidFill>
                  <a:schemeClr val="tx1"/>
                </a:solidFill>
                <a:latin typeface="Times New Roman" pitchFamily="18" charset="0"/>
                <a:cs typeface="Times New Roman" pitchFamily="18" charset="0"/>
              </a:rPr>
              <a:t>Quality assessment</a:t>
            </a:r>
          </a:p>
          <a:p>
            <a:pPr marL="342900" indent="-342900" algn="just">
              <a:buFont typeface="+mj-lt"/>
              <a:buAutoNum type="arabicPeriod"/>
              <a:defRPr/>
            </a:pPr>
            <a:r>
              <a:rPr lang="en-US" sz="1700" dirty="0" smtClean="0">
                <a:solidFill>
                  <a:schemeClr val="tx1"/>
                </a:solidFill>
                <a:latin typeface="Times New Roman" pitchFamily="18" charset="0"/>
                <a:cs typeface="Times New Roman" pitchFamily="18" charset="0"/>
              </a:rPr>
              <a:t>Robustness testing</a:t>
            </a:r>
          </a:p>
          <a:p>
            <a:pPr marL="342900" indent="-342900" algn="just">
              <a:buFont typeface="+mj-lt"/>
              <a:buAutoNum type="arabicPeriod"/>
              <a:defRPr/>
            </a:pPr>
            <a:r>
              <a:rPr lang="en-US" sz="1700" dirty="0" smtClean="0">
                <a:solidFill>
                  <a:schemeClr val="tx1"/>
                </a:solidFill>
                <a:latin typeface="Times New Roman" pitchFamily="18" charset="0"/>
                <a:cs typeface="Times New Roman" pitchFamily="18" charset="0"/>
              </a:rPr>
              <a:t>Security analysis</a:t>
            </a:r>
          </a:p>
          <a:p>
            <a:pPr marL="342900" indent="-342900" algn="just">
              <a:buFont typeface="+mj-lt"/>
              <a:buAutoNum type="arabicPeriod"/>
              <a:defRPr/>
            </a:pPr>
            <a:r>
              <a:rPr lang="en-US" sz="1700" dirty="0" smtClean="0">
                <a:solidFill>
                  <a:schemeClr val="tx1"/>
                </a:solidFill>
                <a:latin typeface="Times New Roman" pitchFamily="18" charset="0"/>
                <a:cs typeface="Times New Roman" pitchFamily="18" charset="0"/>
              </a:rPr>
              <a:t>Performance optimization</a:t>
            </a:r>
            <a:endParaRPr lang="en-IN" altLang="en-US" sz="1700" dirty="0" smtClean="0">
              <a:solidFill>
                <a:schemeClr val="tx1"/>
              </a:solidFill>
              <a:latin typeface="Times New Roman" pitchFamily="18" charset="0"/>
              <a:cs typeface="Times New Roman" pitchFamily="18" charset="0"/>
            </a:endParaRPr>
          </a:p>
          <a:p>
            <a:pPr algn="just">
              <a:lnSpc>
                <a:spcPct val="115000"/>
              </a:lnSpc>
              <a:spcAft>
                <a:spcPts val="800"/>
              </a:spcAft>
            </a:pPr>
            <a:endParaRPr lang="en-IN" sz="1600" dirty="0">
              <a:effectLst/>
              <a:ea typeface="Calibri" panose="020F0502020204030204" pitchFamily="34" charset="0"/>
            </a:endParaRPr>
          </a:p>
        </p:txBody>
      </p:sp>
      <p:sp>
        <p:nvSpPr>
          <p:cNvPr id="4" name="Slide Number Placeholder 3">
            <a:extLst>
              <a:ext uri="{FF2B5EF4-FFF2-40B4-BE49-F238E27FC236}">
                <a16:creationId xmlns:a16="http://schemas.microsoft.com/office/drawing/2014/main" xmlns=""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ZA" smtClean="0"/>
              <a:pPr/>
              <a:t>2</a:t>
            </a:fld>
            <a:endParaRPr lang="en-ZA" dirty="0"/>
          </a:p>
        </p:txBody>
      </p:sp>
    </p:spTree>
    <p:extLst>
      <p:ext uri="{BB962C8B-B14F-4D97-AF65-F5344CB8AC3E}">
        <p14:creationId xmlns:p14="http://schemas.microsoft.com/office/powerpoint/2010/main" xmlns=""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031FE9-9059-4FE8-B4AC-9771F23A1B89}"/>
              </a:ext>
            </a:extLst>
          </p:cNvPr>
          <p:cNvSpPr>
            <a:spLocks noGrp="1"/>
          </p:cNvSpPr>
          <p:nvPr>
            <p:ph type="title"/>
          </p:nvPr>
        </p:nvSpPr>
        <p:spPr>
          <a:xfrm>
            <a:off x="3310359" y="185195"/>
            <a:ext cx="5382747" cy="610081"/>
          </a:xfrm>
        </p:spPr>
        <p:txBody>
          <a:bodyPr>
            <a:normAutofit fontScale="90000"/>
          </a:bodyPr>
          <a:lstStyle/>
          <a:p>
            <a:r>
              <a:rPr lang="en-US" b="1" dirty="0" smtClean="0"/>
              <a:t>   Image-</a:t>
            </a:r>
            <a:r>
              <a:rPr lang="en-US" b="1" dirty="0" err="1" smtClean="0"/>
              <a:t>Steganography</a:t>
            </a:r>
            <a:endParaRPr lang="en-US" b="1" dirty="0"/>
          </a:p>
        </p:txBody>
      </p:sp>
      <p:sp>
        <p:nvSpPr>
          <p:cNvPr id="10" name="Text Placeholder 9">
            <a:extLst>
              <a:ext uri="{FF2B5EF4-FFF2-40B4-BE49-F238E27FC236}">
                <a16:creationId xmlns:a16="http://schemas.microsoft.com/office/drawing/2014/main" xmlns="" id="{7F39C97C-2DDC-4706-B96C-B02FAE53A426}"/>
              </a:ext>
            </a:extLst>
          </p:cNvPr>
          <p:cNvSpPr>
            <a:spLocks noGrp="1"/>
          </p:cNvSpPr>
          <p:nvPr>
            <p:ph type="body" sz="quarter" idx="28"/>
          </p:nvPr>
        </p:nvSpPr>
        <p:spPr>
          <a:xfrm>
            <a:off x="439839" y="1252710"/>
            <a:ext cx="5752617" cy="5113366"/>
          </a:xfrm>
        </p:spPr>
        <p:txBody>
          <a:bodyPr>
            <a:normAutofit/>
          </a:bodyPr>
          <a:lstStyle/>
          <a:p>
            <a:pPr algn="just">
              <a:lnSpc>
                <a:spcPct val="115000"/>
              </a:lnSpc>
              <a:spcAft>
                <a:spcPts val="800"/>
              </a:spcAft>
            </a:pPr>
            <a:r>
              <a:rPr lang="en-US" sz="1600" dirty="0">
                <a:solidFill>
                  <a:schemeClr val="tx1"/>
                </a:solidFill>
                <a:effectLst/>
                <a:latin typeface="Times New Roman" pitchFamily="18" charset="0"/>
                <a:ea typeface="Calibri" panose="020F0502020204030204" pitchFamily="34" charset="0"/>
                <a:cs typeface="Times New Roman" pitchFamily="18" charset="0"/>
              </a:rPr>
              <a:t>Steganography is a method in which you hide the message intended to send to someone in an image. The image might look the same after using steganography but a point to remember is that it has the message. Steganography hides the identity of the message in the cover.</a:t>
            </a:r>
            <a:endParaRPr lang="en-IN" sz="1600" dirty="0">
              <a:solidFill>
                <a:schemeClr val="tx1"/>
              </a:solidFill>
              <a:effectLst/>
              <a:latin typeface="Times New Roman" pitchFamily="18" charset="0"/>
              <a:ea typeface="Calibri" panose="020F0502020204030204" pitchFamily="34" charset="0"/>
              <a:cs typeface="Times New Roman" pitchFamily="18" charset="0"/>
            </a:endParaRPr>
          </a:p>
          <a:p>
            <a:pPr algn="just">
              <a:lnSpc>
                <a:spcPct val="115000"/>
              </a:lnSpc>
              <a:spcAft>
                <a:spcPts val="800"/>
              </a:spcAft>
            </a:pPr>
            <a:r>
              <a:rPr lang="en-US" sz="1600" dirty="0">
                <a:solidFill>
                  <a:schemeClr val="tx1"/>
                </a:solidFill>
                <a:effectLst/>
                <a:latin typeface="Times New Roman" pitchFamily="18" charset="0"/>
                <a:ea typeface="Calibri" panose="020F0502020204030204" pitchFamily="34" charset="0"/>
                <a:cs typeface="Times New Roman" pitchFamily="18" charset="0"/>
              </a:rPr>
              <a:t>The confidential data is taken as input from the user along with the cover image in which the data is to be hidden.</a:t>
            </a:r>
            <a:endParaRPr lang="en-IN" sz="1600" dirty="0">
              <a:solidFill>
                <a:schemeClr val="tx1"/>
              </a:solidFill>
              <a:effectLst/>
              <a:latin typeface="Times New Roman" pitchFamily="18" charset="0"/>
              <a:ea typeface="Calibri" panose="020F0502020204030204" pitchFamily="34" charset="0"/>
              <a:cs typeface="Times New Roman" pitchFamily="18" charset="0"/>
            </a:endParaRPr>
          </a:p>
          <a:p>
            <a:pPr algn="just">
              <a:lnSpc>
                <a:spcPct val="115000"/>
              </a:lnSpc>
              <a:spcAft>
                <a:spcPts val="800"/>
              </a:spcAft>
            </a:pPr>
            <a:r>
              <a:rPr lang="en-US" sz="1600" dirty="0">
                <a:solidFill>
                  <a:schemeClr val="tx1"/>
                </a:solidFill>
                <a:effectLst/>
                <a:latin typeface="Times New Roman" pitchFamily="18" charset="0"/>
                <a:ea typeface="Calibri" panose="020F0502020204030204" pitchFamily="34" charset="0"/>
                <a:cs typeface="Times New Roman" pitchFamily="18" charset="0"/>
              </a:rPr>
              <a:t>These act as an input for the Steganographic Encoder which encodes the given message into the cover file, resulting the output as the </a:t>
            </a:r>
            <a:r>
              <a:rPr lang="en-US" sz="1600" b="1" dirty="0" smtClean="0">
                <a:solidFill>
                  <a:schemeClr val="tx1"/>
                </a:solidFill>
                <a:effectLst/>
                <a:latin typeface="Times New Roman" pitchFamily="18" charset="0"/>
                <a:ea typeface="Calibri" panose="020F0502020204030204" pitchFamily="34" charset="0"/>
                <a:cs typeface="Times New Roman" pitchFamily="18" charset="0"/>
              </a:rPr>
              <a:t>STEGO-</a:t>
            </a:r>
            <a:r>
              <a:rPr lang="en-US" sz="1600" b="1" dirty="0" err="1" smtClean="0">
                <a:solidFill>
                  <a:schemeClr val="tx1"/>
                </a:solidFill>
                <a:effectLst/>
                <a:latin typeface="Times New Roman" pitchFamily="18" charset="0"/>
                <a:ea typeface="Calibri" panose="020F0502020204030204" pitchFamily="34" charset="0"/>
                <a:cs typeface="Times New Roman" pitchFamily="18" charset="0"/>
              </a:rPr>
              <a:t>IMAGE,</a:t>
            </a:r>
            <a:r>
              <a:rPr lang="en-US" sz="1600" dirty="0" err="1" smtClean="0">
                <a:solidFill>
                  <a:schemeClr val="tx1"/>
                </a:solidFill>
                <a:effectLst/>
                <a:latin typeface="Times New Roman" pitchFamily="18" charset="0"/>
                <a:ea typeface="Calibri" panose="020F0502020204030204" pitchFamily="34" charset="0"/>
                <a:cs typeface="Times New Roman" pitchFamily="18" charset="0"/>
              </a:rPr>
              <a:t>Now</a:t>
            </a:r>
            <a:r>
              <a:rPr lang="en-US" sz="1600" dirty="0" smtClean="0">
                <a:solidFill>
                  <a:schemeClr val="tx1"/>
                </a:solidFill>
                <a:effectLst/>
                <a:latin typeface="Times New Roman" pitchFamily="18" charset="0"/>
                <a:ea typeface="Calibri" panose="020F0502020204030204" pitchFamily="34" charset="0"/>
                <a:cs typeface="Times New Roman" pitchFamily="18" charset="0"/>
              </a:rPr>
              <a:t> </a:t>
            </a:r>
            <a:r>
              <a:rPr lang="en-US" sz="1600" dirty="0">
                <a:solidFill>
                  <a:schemeClr val="tx1"/>
                </a:solidFill>
                <a:effectLst/>
                <a:latin typeface="Times New Roman" pitchFamily="18" charset="0"/>
                <a:ea typeface="Calibri" panose="020F0502020204030204" pitchFamily="34" charset="0"/>
                <a:cs typeface="Times New Roman" pitchFamily="18" charset="0"/>
              </a:rPr>
              <a:t>the receiver is provided with </a:t>
            </a:r>
            <a:r>
              <a:rPr lang="en-US" sz="1600" dirty="0" err="1">
                <a:solidFill>
                  <a:schemeClr val="tx1"/>
                </a:solidFill>
                <a:effectLst/>
                <a:latin typeface="Times New Roman" pitchFamily="18" charset="0"/>
                <a:ea typeface="Calibri" panose="020F0502020204030204" pitchFamily="34" charset="0"/>
                <a:cs typeface="Times New Roman" pitchFamily="18" charset="0"/>
              </a:rPr>
              <a:t>stego</a:t>
            </a:r>
            <a:r>
              <a:rPr lang="en-US" sz="1600" dirty="0">
                <a:solidFill>
                  <a:schemeClr val="tx1"/>
                </a:solidFill>
                <a:effectLst/>
                <a:latin typeface="Times New Roman" pitchFamily="18" charset="0"/>
                <a:ea typeface="Calibri" panose="020F0502020204030204" pitchFamily="34" charset="0"/>
                <a:cs typeface="Times New Roman" pitchFamily="18" charset="0"/>
              </a:rPr>
              <a:t>-image which he/she decodes it with the Steganographic Decoder</a:t>
            </a:r>
            <a:r>
              <a:rPr lang="en-US" sz="1600" b="1" dirty="0">
                <a:solidFill>
                  <a:schemeClr val="tx1"/>
                </a:solidFill>
                <a:effectLst/>
                <a:latin typeface="Times New Roman" pitchFamily="18" charset="0"/>
                <a:ea typeface="Calibri" panose="020F0502020204030204" pitchFamily="34" charset="0"/>
                <a:cs typeface="Times New Roman" pitchFamily="18" charset="0"/>
              </a:rPr>
              <a:t> </a:t>
            </a:r>
            <a:r>
              <a:rPr lang="en-US" sz="1600" dirty="0">
                <a:solidFill>
                  <a:schemeClr val="tx1"/>
                </a:solidFill>
                <a:effectLst/>
                <a:latin typeface="Times New Roman" pitchFamily="18" charset="0"/>
                <a:ea typeface="Calibri" panose="020F0502020204030204" pitchFamily="34" charset="0"/>
                <a:cs typeface="Times New Roman" pitchFamily="18" charset="0"/>
              </a:rPr>
              <a:t>and finally gets the intended message. </a:t>
            </a:r>
            <a:endParaRPr lang="en-IN" sz="1600" dirty="0">
              <a:solidFill>
                <a:schemeClr val="tx1"/>
              </a:solidFill>
              <a:effectLst/>
              <a:latin typeface="Times New Roman" pitchFamily="18" charset="0"/>
              <a:ea typeface="Calibri" panose="020F0502020204030204" pitchFamily="34" charset="0"/>
              <a:cs typeface="Times New Roman" pitchFamily="18" charset="0"/>
            </a:endParaRPr>
          </a:p>
        </p:txBody>
      </p:sp>
      <p:sp>
        <p:nvSpPr>
          <p:cNvPr id="22" name="Slide Number Placeholder 21">
            <a:extLst>
              <a:ext uri="{FF2B5EF4-FFF2-40B4-BE49-F238E27FC236}">
                <a16:creationId xmlns:a16="http://schemas.microsoft.com/office/drawing/2014/main" xmlns=""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3</a:t>
            </a:fld>
            <a:endParaRPr lang="en-US" dirty="0"/>
          </a:p>
        </p:txBody>
      </p:sp>
      <p:pic>
        <p:nvPicPr>
          <p:cNvPr id="5" name="Image 46"/>
          <p:cNvPicPr/>
          <p:nvPr/>
        </p:nvPicPr>
        <p:blipFill>
          <a:blip r:embed="rId2" cstate="print"/>
          <a:stretch>
            <a:fillRect/>
          </a:stretch>
        </p:blipFill>
        <p:spPr>
          <a:xfrm>
            <a:off x="6367933" y="1064870"/>
            <a:ext cx="5474970" cy="5208607"/>
          </a:xfrm>
          <a:prstGeom prst="rect">
            <a:avLst/>
          </a:prstGeom>
        </p:spPr>
      </p:pic>
    </p:spTree>
    <p:extLst>
      <p:ext uri="{BB962C8B-B14F-4D97-AF65-F5344CB8AC3E}">
        <p14:creationId xmlns:p14="http://schemas.microsoft.com/office/powerpoint/2010/main" xmlns="" val="371021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285" y="1099594"/>
            <a:ext cx="11227443" cy="4826644"/>
          </a:xfrm>
        </p:spPr>
        <p:txBody>
          <a:bodyPr>
            <a:normAutofit/>
          </a:bodyPr>
          <a:lstStyle/>
          <a:p>
            <a:pPr marL="228600" lvl="0" indent="-228600" eaLnBrk="0" fontAlgn="base" hangingPunct="0">
              <a:spcBef>
                <a:spcPts val="1000"/>
              </a:spcBef>
              <a:spcAft>
                <a:spcPct val="0"/>
              </a:spcAft>
              <a:defRPr/>
            </a:pPr>
            <a:r>
              <a:rPr lang="en-US" sz="1800" cap="none" dirty="0" smtClean="0">
                <a:solidFill>
                  <a:schemeClr val="tx1"/>
                </a:solidFill>
                <a:latin typeface="Times New Roman" pitchFamily="18" charset="0"/>
                <a:ea typeface="Times New Roman" pitchFamily="18" charset="0"/>
                <a:cs typeface="Times New Roman" pitchFamily="18" charset="0"/>
              </a:rPr>
              <a:t>   </a:t>
            </a:r>
            <a:r>
              <a:rPr lang="en-US" sz="2000" cap="none" dirty="0" smtClean="0">
                <a:solidFill>
                  <a:schemeClr val="tx1"/>
                </a:solidFill>
                <a:latin typeface="Times New Roman" pitchFamily="18" charset="0"/>
                <a:ea typeface="Times New Roman" pitchFamily="18" charset="0"/>
                <a:cs typeface="Times New Roman" pitchFamily="18" charset="0"/>
              </a:rPr>
              <a:t>The implementation has been done majorly in two phases here that is,</a:t>
            </a:r>
            <a:br>
              <a:rPr lang="en-US" sz="2000" cap="none" dirty="0" smtClean="0">
                <a:solidFill>
                  <a:schemeClr val="tx1"/>
                </a:solidFill>
                <a:latin typeface="Times New Roman" pitchFamily="18" charset="0"/>
                <a:ea typeface="Times New Roman" pitchFamily="18" charset="0"/>
                <a:cs typeface="Times New Roman" pitchFamily="18" charset="0"/>
              </a:rPr>
            </a:br>
            <a:r>
              <a:rPr lang="en-US" sz="2000" cap="none" dirty="0" smtClean="0">
                <a:solidFill>
                  <a:schemeClr val="tx1"/>
                </a:solidFill>
                <a:latin typeface="Times New Roman" pitchFamily="18" charset="0"/>
                <a:ea typeface="Times New Roman" pitchFamily="18" charset="0"/>
                <a:cs typeface="Times New Roman" pitchFamily="18" charset="0"/>
              </a:rPr>
              <a:t>cryptography implementation and</a:t>
            </a:r>
            <a:br>
              <a:rPr lang="en-US" sz="2000" cap="none" dirty="0" smtClean="0">
                <a:solidFill>
                  <a:schemeClr val="tx1"/>
                </a:solidFill>
                <a:latin typeface="Times New Roman" pitchFamily="18" charset="0"/>
                <a:ea typeface="Times New Roman" pitchFamily="18" charset="0"/>
                <a:cs typeface="Times New Roman" pitchFamily="18" charset="0"/>
              </a:rPr>
            </a:br>
            <a:r>
              <a:rPr lang="en-US" sz="2000" cap="none" dirty="0" err="1" smtClean="0">
                <a:solidFill>
                  <a:schemeClr val="tx1"/>
                </a:solidFill>
                <a:latin typeface="Times New Roman" pitchFamily="18" charset="0"/>
                <a:ea typeface="Times New Roman" pitchFamily="18" charset="0"/>
                <a:cs typeface="Times New Roman" pitchFamily="18" charset="0"/>
              </a:rPr>
              <a:t>steganography</a:t>
            </a:r>
            <a:r>
              <a:rPr lang="en-US" sz="2000" cap="none" dirty="0" smtClean="0">
                <a:solidFill>
                  <a:schemeClr val="tx1"/>
                </a:solidFill>
                <a:latin typeface="Times New Roman" pitchFamily="18" charset="0"/>
                <a:ea typeface="Times New Roman" pitchFamily="18" charset="0"/>
                <a:cs typeface="Times New Roman" pitchFamily="18" charset="0"/>
              </a:rPr>
              <a:t> implementation.</a:t>
            </a:r>
            <a:br>
              <a:rPr lang="en-US" sz="2000" cap="none" dirty="0" smtClean="0">
                <a:solidFill>
                  <a:schemeClr val="tx1"/>
                </a:solidFill>
                <a:latin typeface="Times New Roman" pitchFamily="18" charset="0"/>
                <a:ea typeface="Times New Roman" pitchFamily="18" charset="0"/>
                <a:cs typeface="Times New Roman" pitchFamily="18" charset="0"/>
              </a:rPr>
            </a:br>
            <a:r>
              <a:rPr lang="en-US" sz="2000" cap="none" dirty="0" smtClean="0">
                <a:solidFill>
                  <a:schemeClr val="tx1"/>
                </a:solidFill>
                <a:latin typeface="Times New Roman" pitchFamily="18" charset="0"/>
                <a:ea typeface="Times New Roman" pitchFamily="18" charset="0"/>
                <a:cs typeface="Times New Roman" pitchFamily="18" charset="0"/>
              </a:rPr>
              <a:t/>
            </a:r>
            <a:br>
              <a:rPr lang="en-US" sz="2000" cap="none" dirty="0" smtClean="0">
                <a:solidFill>
                  <a:schemeClr val="tx1"/>
                </a:solidFill>
                <a:latin typeface="Times New Roman" pitchFamily="18" charset="0"/>
                <a:ea typeface="Times New Roman" pitchFamily="18" charset="0"/>
                <a:cs typeface="Times New Roman" pitchFamily="18" charset="0"/>
              </a:rPr>
            </a:br>
            <a:r>
              <a:rPr lang="en-US" sz="2000" cap="none" dirty="0" smtClean="0">
                <a:solidFill>
                  <a:schemeClr val="tx1"/>
                </a:solidFill>
                <a:latin typeface="Times New Roman" pitchFamily="18" charset="0"/>
                <a:ea typeface="Times New Roman" pitchFamily="18" charset="0"/>
                <a:cs typeface="Times New Roman" pitchFamily="18" charset="0"/>
              </a:rPr>
              <a:t>These two major phases have more sub- phases in them for implementation.</a:t>
            </a:r>
            <a:br>
              <a:rPr lang="en-US" sz="2000" cap="none" dirty="0" smtClean="0">
                <a:solidFill>
                  <a:schemeClr val="tx1"/>
                </a:solidFill>
                <a:latin typeface="Times New Roman" pitchFamily="18" charset="0"/>
                <a:ea typeface="Times New Roman" pitchFamily="18" charset="0"/>
                <a:cs typeface="Times New Roman" pitchFamily="18" charset="0"/>
              </a:rPr>
            </a:br>
            <a:r>
              <a:rPr lang="en-US" sz="2000" cap="none" dirty="0" smtClean="0">
                <a:solidFill>
                  <a:schemeClr val="tx1"/>
                </a:solidFill>
                <a:latin typeface="Times New Roman" pitchFamily="18" charset="0"/>
                <a:ea typeface="Times New Roman" pitchFamily="18" charset="0"/>
                <a:cs typeface="Times New Roman" pitchFamily="18" charset="0"/>
              </a:rPr>
              <a:t>A GUI is developed using python </a:t>
            </a:r>
            <a:r>
              <a:rPr lang="en-US" sz="2000" cap="none" dirty="0" err="1" smtClean="0">
                <a:solidFill>
                  <a:schemeClr val="tx1"/>
                </a:solidFill>
                <a:latin typeface="Times New Roman" pitchFamily="18" charset="0"/>
                <a:ea typeface="Times New Roman" pitchFamily="18" charset="0"/>
                <a:cs typeface="Times New Roman" pitchFamily="18" charset="0"/>
              </a:rPr>
              <a:t>pysimplegui</a:t>
            </a:r>
            <a:r>
              <a:rPr lang="en-US" sz="2000" cap="none" dirty="0" smtClean="0">
                <a:solidFill>
                  <a:schemeClr val="tx1"/>
                </a:solidFill>
                <a:latin typeface="Times New Roman" pitchFamily="18" charset="0"/>
                <a:ea typeface="Times New Roman" pitchFamily="18" charset="0"/>
                <a:cs typeface="Times New Roman" pitchFamily="18" charset="0"/>
              </a:rPr>
              <a:t>. Which includes four layouts namely: encrypt, </a:t>
            </a:r>
            <a:r>
              <a:rPr lang="en-US" sz="2000" cap="none" dirty="0" err="1" smtClean="0">
                <a:solidFill>
                  <a:schemeClr val="tx1"/>
                </a:solidFill>
                <a:latin typeface="Times New Roman" pitchFamily="18" charset="0"/>
                <a:ea typeface="Times New Roman" pitchFamily="18" charset="0"/>
                <a:cs typeface="Times New Roman" pitchFamily="18" charset="0"/>
              </a:rPr>
              <a:t>decrypt,keys,mail</a:t>
            </a:r>
            <a:r>
              <a:rPr lang="en-US" sz="2000" cap="none" dirty="0" smtClean="0">
                <a:solidFill>
                  <a:schemeClr val="tx1"/>
                </a:solidFill>
                <a:latin typeface="Times New Roman" pitchFamily="18" charset="0"/>
                <a:ea typeface="Times New Roman" pitchFamily="18" charset="0"/>
                <a:cs typeface="Times New Roman" pitchFamily="18" charset="0"/>
              </a:rPr>
              <a:t>.</a:t>
            </a:r>
            <a:br>
              <a:rPr lang="en-US" sz="2000" cap="none" dirty="0" smtClean="0">
                <a:solidFill>
                  <a:schemeClr val="tx1"/>
                </a:solidFill>
                <a:latin typeface="Times New Roman" pitchFamily="18" charset="0"/>
                <a:ea typeface="Times New Roman" pitchFamily="18" charset="0"/>
                <a:cs typeface="Times New Roman" pitchFamily="18" charset="0"/>
              </a:rPr>
            </a:br>
            <a:r>
              <a:rPr lang="en-US" sz="2000" cap="none" dirty="0" smtClean="0">
                <a:solidFill>
                  <a:schemeClr val="tx1"/>
                </a:solidFill>
                <a:latin typeface="Times New Roman" pitchFamily="18" charset="0"/>
                <a:ea typeface="Times New Roman" pitchFamily="18" charset="0"/>
                <a:cs typeface="Times New Roman" pitchFamily="18" charset="0"/>
              </a:rPr>
              <a:t/>
            </a:r>
            <a:br>
              <a:rPr lang="en-US" sz="2000" cap="none" dirty="0" smtClean="0">
                <a:solidFill>
                  <a:schemeClr val="tx1"/>
                </a:solidFill>
                <a:latin typeface="Times New Roman" pitchFamily="18" charset="0"/>
                <a:ea typeface="Times New Roman" pitchFamily="18" charset="0"/>
                <a:cs typeface="Times New Roman" pitchFamily="18" charset="0"/>
              </a:rPr>
            </a:br>
            <a:r>
              <a:rPr lang="en-US" sz="2000" cap="none" spc="0" dirty="0" smtClean="0">
                <a:solidFill>
                  <a:prstClr val="black"/>
                </a:solidFill>
                <a:latin typeface="Times New Roman" pitchFamily="18" charset="0"/>
                <a:ea typeface="+mn-ea"/>
                <a:cs typeface="Times New Roman" pitchFamily="18" charset="0"/>
              </a:rPr>
              <a:t>There are 4 modules used in the model:</a:t>
            </a:r>
            <a:r>
              <a:rPr lang="en-GB" sz="2000" cap="none" spc="0" dirty="0" smtClean="0">
                <a:solidFill>
                  <a:prstClr val="black"/>
                </a:solidFill>
                <a:latin typeface="Times New Roman" pitchFamily="18" charset="0"/>
                <a:ea typeface="+mn-ea"/>
                <a:cs typeface="Times New Roman" pitchFamily="18" charset="0"/>
              </a:rPr>
              <a:t/>
            </a:r>
            <a:br>
              <a:rPr lang="en-GB" sz="2000" cap="none" spc="0" dirty="0" smtClean="0">
                <a:solidFill>
                  <a:prstClr val="black"/>
                </a:solidFill>
                <a:latin typeface="Times New Roman" pitchFamily="18" charset="0"/>
                <a:ea typeface="+mn-ea"/>
                <a:cs typeface="Times New Roman" pitchFamily="18" charset="0"/>
              </a:rPr>
            </a:br>
            <a:r>
              <a:rPr lang="en-US" sz="2000" b="1" cap="none" spc="0" dirty="0" smtClean="0">
                <a:solidFill>
                  <a:prstClr val="black"/>
                </a:solidFill>
                <a:latin typeface="Times New Roman" pitchFamily="18" charset="0"/>
                <a:ea typeface="+mn-ea"/>
                <a:cs typeface="Times New Roman" pitchFamily="18" charset="0"/>
              </a:rPr>
              <a:t>Encryption Module</a:t>
            </a:r>
            <a:br>
              <a:rPr lang="en-US" sz="2000" b="1" cap="none" spc="0" dirty="0" smtClean="0">
                <a:solidFill>
                  <a:prstClr val="black"/>
                </a:solidFill>
                <a:latin typeface="Times New Roman" pitchFamily="18" charset="0"/>
                <a:ea typeface="+mn-ea"/>
                <a:cs typeface="Times New Roman" pitchFamily="18" charset="0"/>
              </a:rPr>
            </a:br>
            <a:r>
              <a:rPr lang="en-US" sz="2000" b="1" cap="none" spc="0" dirty="0" smtClean="0">
                <a:solidFill>
                  <a:prstClr val="black"/>
                </a:solidFill>
                <a:latin typeface="Times New Roman" pitchFamily="18" charset="0"/>
                <a:ea typeface="+mn-ea"/>
                <a:cs typeface="Times New Roman" pitchFamily="18" charset="0"/>
              </a:rPr>
              <a:t>Encode Module</a:t>
            </a:r>
            <a:br>
              <a:rPr lang="en-US" sz="2000" b="1" cap="none" spc="0" dirty="0" smtClean="0">
                <a:solidFill>
                  <a:prstClr val="black"/>
                </a:solidFill>
                <a:latin typeface="Times New Roman" pitchFamily="18" charset="0"/>
                <a:ea typeface="+mn-ea"/>
                <a:cs typeface="Times New Roman" pitchFamily="18" charset="0"/>
              </a:rPr>
            </a:br>
            <a:r>
              <a:rPr lang="en-US" sz="2000" b="1" cap="none" spc="0" dirty="0" smtClean="0">
                <a:solidFill>
                  <a:prstClr val="black"/>
                </a:solidFill>
                <a:latin typeface="Times New Roman" pitchFamily="18" charset="0"/>
                <a:ea typeface="+mn-ea"/>
                <a:cs typeface="Times New Roman" pitchFamily="18" charset="0"/>
              </a:rPr>
              <a:t>Decode Module</a:t>
            </a:r>
            <a:br>
              <a:rPr lang="en-US" sz="2000" b="1" cap="none" spc="0" dirty="0" smtClean="0">
                <a:solidFill>
                  <a:prstClr val="black"/>
                </a:solidFill>
                <a:latin typeface="Times New Roman" pitchFamily="18" charset="0"/>
                <a:ea typeface="+mn-ea"/>
                <a:cs typeface="Times New Roman" pitchFamily="18" charset="0"/>
              </a:rPr>
            </a:br>
            <a:r>
              <a:rPr lang="en-US" sz="2000" b="1" cap="none" spc="0" dirty="0" smtClean="0">
                <a:solidFill>
                  <a:prstClr val="black"/>
                </a:solidFill>
                <a:latin typeface="Times New Roman" pitchFamily="18" charset="0"/>
                <a:ea typeface="+mn-ea"/>
                <a:cs typeface="Times New Roman" pitchFamily="18" charset="0"/>
              </a:rPr>
              <a:t>Decryption Module</a:t>
            </a:r>
            <a:br>
              <a:rPr lang="en-US" sz="2000" b="1" cap="none" spc="0" dirty="0" smtClean="0">
                <a:solidFill>
                  <a:prstClr val="black"/>
                </a:solidFill>
                <a:latin typeface="Times New Roman" pitchFamily="18" charset="0"/>
                <a:ea typeface="+mn-ea"/>
                <a:cs typeface="Times New Roman" pitchFamily="18" charset="0"/>
              </a:rPr>
            </a:br>
            <a:r>
              <a:rPr lang="en-US" sz="2000" b="1" cap="none" spc="0" dirty="0" smtClean="0">
                <a:solidFill>
                  <a:prstClr val="black"/>
                </a:solidFill>
                <a:latin typeface="Times New Roman" pitchFamily="18" charset="0"/>
                <a:ea typeface="+mn-ea"/>
                <a:cs typeface="Times New Roman" pitchFamily="18" charset="0"/>
              </a:rPr>
              <a:t>SMTP</a:t>
            </a:r>
            <a:r>
              <a:rPr lang="en-US" sz="1350" cap="none" spc="0" dirty="0" smtClean="0">
                <a:solidFill>
                  <a:prstClr val="black"/>
                </a:solidFill>
                <a:latin typeface="Calibri"/>
                <a:ea typeface="+mn-ea"/>
                <a:cs typeface="+mn-cs"/>
              </a:rPr>
              <a:t/>
            </a:r>
            <a:br>
              <a:rPr lang="en-US" sz="1350" cap="none" spc="0" dirty="0" smtClean="0">
                <a:solidFill>
                  <a:prstClr val="black"/>
                </a:solidFill>
                <a:latin typeface="Calibri"/>
                <a:ea typeface="+mn-ea"/>
                <a:cs typeface="+mn-cs"/>
              </a:rPr>
            </a:br>
            <a:r>
              <a:rPr lang="en-GB" dirty="0" smtClean="0">
                <a:cs typeface="Times New Roman" pitchFamily="18" charset="0"/>
              </a:rPr>
              <a:t/>
            </a:r>
            <a:br>
              <a:rPr lang="en-GB" dirty="0" smtClean="0">
                <a:cs typeface="Times New Roman" pitchFamily="18" charset="0"/>
              </a:rPr>
            </a:br>
            <a:endParaRPr lang="en-US" dirty="0"/>
          </a:p>
        </p:txBody>
      </p:sp>
      <p:sp>
        <p:nvSpPr>
          <p:cNvPr id="13" name="Slide Number Placeholder 12"/>
          <p:cNvSpPr>
            <a:spLocks noGrp="1"/>
          </p:cNvSpPr>
          <p:nvPr>
            <p:ph type="sldNum" sz="quarter" idx="22"/>
          </p:nvPr>
        </p:nvSpPr>
        <p:spPr/>
        <p:txBody>
          <a:bodyPr/>
          <a:lstStyle/>
          <a:p>
            <a:fld id="{B5CEABB6-07DC-46E8-9B57-56EC44A396E5}" type="slidenum">
              <a:rPr lang="en-US" smtClean="0"/>
              <a:pPr/>
              <a:t>4</a:t>
            </a:fld>
            <a:endParaRPr lang="en-US" dirty="0"/>
          </a:p>
        </p:txBody>
      </p:sp>
      <p:sp>
        <p:nvSpPr>
          <p:cNvPr id="14" name="TextBox 13"/>
          <p:cNvSpPr txBox="1"/>
          <p:nvPr/>
        </p:nvSpPr>
        <p:spPr>
          <a:xfrm>
            <a:off x="4444679" y="393540"/>
            <a:ext cx="2824221" cy="461665"/>
          </a:xfrm>
          <a:prstGeom prst="rect">
            <a:avLst/>
          </a:prstGeom>
          <a:noFill/>
        </p:spPr>
        <p:txBody>
          <a:bodyPr wrap="square" rtlCol="0">
            <a:spAutoFit/>
          </a:bodyPr>
          <a:lstStyle/>
          <a:p>
            <a:r>
              <a:rPr lang="en-IN" sz="2400" b="1" dirty="0" smtClean="0">
                <a:solidFill>
                  <a:schemeClr val="bg2">
                    <a:lumMod val="10000"/>
                  </a:schemeClr>
                </a:solidFill>
                <a:latin typeface="Times New Roman" pitchFamily="18" charset="0"/>
                <a:cs typeface="Times New Roman" pitchFamily="18" charset="0"/>
              </a:rPr>
              <a:t>METHODOLOGY</a:t>
            </a:r>
            <a:endParaRPr lang="en-US"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E54ABB-4929-4810-950B-2DAEA0A5BAB4}"/>
              </a:ext>
            </a:extLst>
          </p:cNvPr>
          <p:cNvSpPr>
            <a:spLocks noGrp="1"/>
          </p:cNvSpPr>
          <p:nvPr>
            <p:ph type="title"/>
          </p:nvPr>
        </p:nvSpPr>
        <p:spPr>
          <a:xfrm>
            <a:off x="1943030" y="0"/>
            <a:ext cx="8421688" cy="868101"/>
          </a:xfrm>
        </p:spPr>
        <p:txBody>
          <a:bodyPr/>
          <a:lstStyle/>
          <a:p>
            <a:r>
              <a:rPr lang="en-US" b="1" dirty="0"/>
              <a:t>ALGORITHMS</a:t>
            </a:r>
          </a:p>
        </p:txBody>
      </p:sp>
      <p:sp>
        <p:nvSpPr>
          <p:cNvPr id="4" name="Text Placeholder 3">
            <a:extLst>
              <a:ext uri="{FF2B5EF4-FFF2-40B4-BE49-F238E27FC236}">
                <a16:creationId xmlns:a16="http://schemas.microsoft.com/office/drawing/2014/main" xmlns="" id="{A112B089-A8F9-45B1-BE6E-EAC10163F082}"/>
              </a:ext>
            </a:extLst>
          </p:cNvPr>
          <p:cNvSpPr>
            <a:spLocks noGrp="1"/>
          </p:cNvSpPr>
          <p:nvPr>
            <p:ph type="body" idx="1"/>
          </p:nvPr>
        </p:nvSpPr>
        <p:spPr>
          <a:xfrm>
            <a:off x="282406" y="879676"/>
            <a:ext cx="2882475" cy="576036"/>
          </a:xfrm>
        </p:spPr>
        <p:txBody>
          <a:bodyPr/>
          <a:lstStyle/>
          <a:p>
            <a:r>
              <a:rPr lang="en-ZA" b="1" dirty="0"/>
              <a:t>AES</a:t>
            </a:r>
          </a:p>
        </p:txBody>
      </p:sp>
      <p:sp>
        <p:nvSpPr>
          <p:cNvPr id="7" name="Content Placeholder 6">
            <a:extLst>
              <a:ext uri="{FF2B5EF4-FFF2-40B4-BE49-F238E27FC236}">
                <a16:creationId xmlns:a16="http://schemas.microsoft.com/office/drawing/2014/main" xmlns="" id="{6B35F89A-6CDF-41F7-BD87-18B45BD7330B}"/>
              </a:ext>
            </a:extLst>
          </p:cNvPr>
          <p:cNvSpPr>
            <a:spLocks noGrp="1"/>
          </p:cNvSpPr>
          <p:nvPr>
            <p:ph sz="half" idx="2"/>
          </p:nvPr>
        </p:nvSpPr>
        <p:spPr>
          <a:xfrm>
            <a:off x="254643" y="1736204"/>
            <a:ext cx="3973922" cy="4710896"/>
          </a:xfrm>
        </p:spPr>
        <p:txBody>
          <a:bodyPr vert="horz" lIns="91440" tIns="45720" rIns="91440" bIns="45720" rtlCol="0" anchor="t">
            <a:noAutofit/>
          </a:bodyPr>
          <a:lstStyle/>
          <a:p>
            <a:pPr marL="342900" indent="-342900" algn="just">
              <a:lnSpc>
                <a:spcPct val="115000"/>
              </a:lnSpc>
              <a:spcAft>
                <a:spcPts val="800"/>
              </a:spcAft>
              <a:buFont typeface="+mj-lt"/>
              <a:buAutoNum type="arabicPeriod"/>
            </a:pPr>
            <a:r>
              <a:rPr lang="en-GB" sz="1600" dirty="0" smtClean="0">
                <a:solidFill>
                  <a:schemeClr val="tx1"/>
                </a:solidFill>
                <a:latin typeface="Times New Roman" pitchFamily="18" charset="0"/>
                <a:cs typeface="Times New Roman" pitchFamily="18" charset="0"/>
              </a:rPr>
              <a:t>AES is a symmetric encryption algorithm widely used to secure sensitive data.</a:t>
            </a:r>
          </a:p>
          <a:p>
            <a:pPr marL="342900" indent="-342900" algn="just">
              <a:lnSpc>
                <a:spcPct val="115000"/>
              </a:lnSpc>
              <a:spcAft>
                <a:spcPts val="800"/>
              </a:spcAft>
              <a:buFont typeface="+mj-lt"/>
              <a:buAutoNum type="arabicPeriod"/>
            </a:pPr>
            <a:r>
              <a:rPr lang="en-US" sz="1600" dirty="0" smtClean="0">
                <a:solidFill>
                  <a:schemeClr val="tx1"/>
                </a:solidFill>
                <a:latin typeface="Times New Roman" pitchFamily="18" charset="0"/>
                <a:cs typeface="Times New Roman" pitchFamily="18" charset="0"/>
              </a:rPr>
              <a:t>Strong security</a:t>
            </a:r>
          </a:p>
          <a:p>
            <a:pPr marL="342900" indent="-342900" algn="just">
              <a:lnSpc>
                <a:spcPct val="115000"/>
              </a:lnSpc>
              <a:spcAft>
                <a:spcPts val="800"/>
              </a:spcAft>
              <a:buFont typeface="+mj-lt"/>
              <a:buAutoNum type="arabicPeriod"/>
            </a:pPr>
            <a:r>
              <a:rPr lang="en-US" sz="1600" dirty="0" smtClean="0">
                <a:solidFill>
                  <a:schemeClr val="tx1"/>
                </a:solidFill>
                <a:latin typeface="Times New Roman" pitchFamily="18" charset="0"/>
                <a:cs typeface="Times New Roman" pitchFamily="18" charset="0"/>
              </a:rPr>
              <a:t>Efficiency</a:t>
            </a:r>
          </a:p>
          <a:p>
            <a:pPr marL="342900" indent="-342900" algn="just">
              <a:lnSpc>
                <a:spcPct val="115000"/>
              </a:lnSpc>
              <a:spcAft>
                <a:spcPts val="800"/>
              </a:spcAft>
              <a:buFont typeface="+mj-lt"/>
              <a:buAutoNum type="arabicPeriod"/>
            </a:pPr>
            <a:r>
              <a:rPr lang="en-GB" sz="1600" dirty="0" smtClean="0">
                <a:solidFill>
                  <a:srgbClr val="0D0D0D"/>
                </a:solidFill>
                <a:latin typeface="Times New Roman" pitchFamily="18" charset="0"/>
                <a:cs typeface="Times New Roman" pitchFamily="18" charset="0"/>
              </a:rPr>
              <a:t>Symmetric encryption: As a symmetric algorithm, AES uses the same key for both encryption and decryption</a:t>
            </a:r>
            <a:endParaRPr lang="en-IN" sz="1600" dirty="0">
              <a:effectLst/>
              <a:latin typeface="Times New Roman" pitchFamily="18" charset="0"/>
              <a:ea typeface="Calibri" panose="020F0502020204030204" pitchFamily="34" charset="0"/>
              <a:cs typeface="Times New Roman" pitchFamily="18" charset="0"/>
            </a:endParaRPr>
          </a:p>
        </p:txBody>
      </p:sp>
      <p:sp>
        <p:nvSpPr>
          <p:cNvPr id="6" name="Text Placeholder 5">
            <a:extLst>
              <a:ext uri="{FF2B5EF4-FFF2-40B4-BE49-F238E27FC236}">
                <a16:creationId xmlns:a16="http://schemas.microsoft.com/office/drawing/2014/main" xmlns="" id="{0FE22F9B-4BF8-41DC-8F1C-836B546E59AD}"/>
              </a:ext>
            </a:extLst>
          </p:cNvPr>
          <p:cNvSpPr>
            <a:spLocks noGrp="1"/>
          </p:cNvSpPr>
          <p:nvPr>
            <p:ph type="body" sz="quarter" idx="3"/>
          </p:nvPr>
        </p:nvSpPr>
        <p:spPr>
          <a:xfrm>
            <a:off x="4780344" y="821802"/>
            <a:ext cx="2836061" cy="602692"/>
          </a:xfrm>
        </p:spPr>
        <p:txBody>
          <a:bodyPr/>
          <a:lstStyle/>
          <a:p>
            <a:r>
              <a:rPr lang="en-ZA" b="1" dirty="0"/>
              <a:t>LSB</a:t>
            </a:r>
          </a:p>
        </p:txBody>
      </p:sp>
      <p:sp>
        <p:nvSpPr>
          <p:cNvPr id="3" name="Text Placeholder 2">
            <a:extLst>
              <a:ext uri="{FF2B5EF4-FFF2-40B4-BE49-F238E27FC236}">
                <a16:creationId xmlns:a16="http://schemas.microsoft.com/office/drawing/2014/main" xmlns="" id="{D5E1C399-8F48-44F5-9461-3C89866D4CE1}"/>
              </a:ext>
            </a:extLst>
          </p:cNvPr>
          <p:cNvSpPr>
            <a:spLocks noGrp="1"/>
          </p:cNvSpPr>
          <p:nvPr>
            <p:ph sz="quarter" idx="4"/>
          </p:nvPr>
        </p:nvSpPr>
        <p:spPr>
          <a:xfrm>
            <a:off x="4502553" y="1736203"/>
            <a:ext cx="3345082" cy="4302647"/>
          </a:xfrm>
        </p:spPr>
        <p:txBody>
          <a:bodyPr>
            <a:normAutofit/>
          </a:bodyPr>
          <a:lstStyle/>
          <a:p>
            <a:pPr marL="342900" indent="-342900" algn="just"/>
            <a:r>
              <a:rPr lang="en-US" sz="1600" dirty="0" smtClean="0">
                <a:latin typeface="Times New Roman" pitchFamily="18" charset="0"/>
                <a:cs typeface="Times New Roman" pitchFamily="18" charset="0"/>
              </a:rPr>
              <a:t>1</a:t>
            </a:r>
            <a:r>
              <a:rPr lang="en-US" sz="1600" dirty="0" smtClean="0">
                <a:solidFill>
                  <a:schemeClr val="tx1"/>
                </a:solidFill>
                <a:latin typeface="Times New Roman" pitchFamily="18" charset="0"/>
                <a:cs typeface="Times New Roman" pitchFamily="18" charset="0"/>
              </a:rPr>
              <a:t>.    Simple implementation</a:t>
            </a:r>
          </a:p>
          <a:p>
            <a:pPr marL="342900" indent="-342900" algn="just"/>
            <a:r>
              <a:rPr lang="en-GB" sz="1600" dirty="0" smtClean="0">
                <a:solidFill>
                  <a:schemeClr val="tx1"/>
                </a:solidFill>
                <a:latin typeface="Times New Roman" pitchFamily="18" charset="0"/>
                <a:cs typeface="Times New Roman" pitchFamily="18" charset="0"/>
              </a:rPr>
              <a:t>2. LSB </a:t>
            </a:r>
            <a:r>
              <a:rPr lang="en-GB" sz="1600" dirty="0" err="1" smtClean="0">
                <a:solidFill>
                  <a:schemeClr val="tx1"/>
                </a:solidFill>
                <a:latin typeface="Times New Roman" pitchFamily="18" charset="0"/>
                <a:cs typeface="Times New Roman" pitchFamily="18" charset="0"/>
              </a:rPr>
              <a:t>steganography</a:t>
            </a:r>
            <a:r>
              <a:rPr lang="en-GB" sz="1600" dirty="0" smtClean="0">
                <a:solidFill>
                  <a:schemeClr val="tx1"/>
                </a:solidFill>
                <a:latin typeface="Times New Roman" pitchFamily="18" charset="0"/>
                <a:cs typeface="Times New Roman" pitchFamily="18" charset="0"/>
              </a:rPr>
              <a:t> is a technique used to hide information within digital media (like images or audio) by replacing the least significant bit of each byte with the bits of the hidden message.</a:t>
            </a:r>
          </a:p>
          <a:p>
            <a:r>
              <a:rPr lang="en-GB" sz="1200" dirty="0" smtClean="0"/>
              <a:t/>
            </a:r>
            <a:br>
              <a:rPr lang="en-GB" sz="1200" dirty="0" smtClean="0"/>
            </a:br>
            <a:endParaRPr lang="en-ZA" sz="1200" dirty="0"/>
          </a:p>
        </p:txBody>
      </p:sp>
      <p:sp>
        <p:nvSpPr>
          <p:cNvPr id="5" name="Content Placeholder 4">
            <a:extLst>
              <a:ext uri="{FF2B5EF4-FFF2-40B4-BE49-F238E27FC236}">
                <a16:creationId xmlns:a16="http://schemas.microsoft.com/office/drawing/2014/main" xmlns="" id="{CF515C5D-2CDB-4E66-B2B8-1451BC44247F}"/>
              </a:ext>
            </a:extLst>
          </p:cNvPr>
          <p:cNvSpPr>
            <a:spLocks noGrp="1"/>
          </p:cNvSpPr>
          <p:nvPr>
            <p:ph type="body" idx="13"/>
          </p:nvPr>
        </p:nvSpPr>
        <p:spPr>
          <a:xfrm>
            <a:off x="8674261" y="937549"/>
            <a:ext cx="2882475" cy="509286"/>
          </a:xfrm>
        </p:spPr>
        <p:txBody>
          <a:bodyPr vert="horz" lIns="91440" tIns="45720" rIns="91440" bIns="45720" rtlCol="0" anchor="b">
            <a:normAutofit/>
          </a:bodyPr>
          <a:lstStyle/>
          <a:p>
            <a:r>
              <a:rPr lang="en-ZA" b="1" dirty="0"/>
              <a:t>RSA</a:t>
            </a:r>
          </a:p>
        </p:txBody>
      </p:sp>
      <p:sp>
        <p:nvSpPr>
          <p:cNvPr id="8" name="Text Placeholder 7">
            <a:extLst>
              <a:ext uri="{FF2B5EF4-FFF2-40B4-BE49-F238E27FC236}">
                <a16:creationId xmlns:a16="http://schemas.microsoft.com/office/drawing/2014/main" xmlns="" id="{E92B9716-8D44-4864-8986-720957B34362}"/>
              </a:ext>
            </a:extLst>
          </p:cNvPr>
          <p:cNvSpPr>
            <a:spLocks noGrp="1"/>
          </p:cNvSpPr>
          <p:nvPr>
            <p:ph sz="half" idx="14"/>
          </p:nvPr>
        </p:nvSpPr>
        <p:spPr>
          <a:xfrm>
            <a:off x="8066420" y="1701479"/>
            <a:ext cx="3450389" cy="4565972"/>
          </a:xfrm>
        </p:spPr>
        <p:txBody>
          <a:bodyPr>
            <a:noAutofit/>
          </a:bodyPr>
          <a:lstStyle/>
          <a:p>
            <a:pPr marL="342900" indent="-342900">
              <a:buFont typeface="+mj-lt"/>
              <a:buAutoNum type="arabicPeriod"/>
            </a:pPr>
            <a:r>
              <a:rPr lang="en-GB" sz="1600" dirty="0" smtClean="0">
                <a:solidFill>
                  <a:schemeClr val="tx1"/>
                </a:solidFill>
                <a:latin typeface="Times New Roman" pitchFamily="18" charset="0"/>
                <a:cs typeface="Times New Roman" pitchFamily="18" charset="0"/>
              </a:rPr>
              <a:t>RSA is an asymmetric encryption algorithm widely used for secure data transmission, digital signatures, and key exchange.</a:t>
            </a:r>
          </a:p>
          <a:p>
            <a:pPr marL="342900" indent="-342900">
              <a:buFont typeface="+mj-lt"/>
              <a:buAutoNum type="arabicPeriod"/>
            </a:pPr>
            <a:r>
              <a:rPr lang="en-US" sz="1600" dirty="0" smtClean="0">
                <a:solidFill>
                  <a:schemeClr val="tx1"/>
                </a:solidFill>
                <a:latin typeface="Times New Roman" pitchFamily="18" charset="0"/>
                <a:cs typeface="Times New Roman" pitchFamily="18" charset="0"/>
              </a:rPr>
              <a:t>Public key cryptography</a:t>
            </a:r>
          </a:p>
          <a:p>
            <a:pPr marL="342900" indent="-342900">
              <a:buFont typeface="+mj-lt"/>
              <a:buAutoNum type="arabicPeriod"/>
            </a:pPr>
            <a:r>
              <a:rPr lang="en-US" sz="1600" dirty="0" smtClean="0">
                <a:solidFill>
                  <a:schemeClr val="tx1"/>
                </a:solidFill>
                <a:latin typeface="Times New Roman" pitchFamily="18" charset="0"/>
                <a:cs typeface="Times New Roman" pitchFamily="18" charset="0"/>
              </a:rPr>
              <a:t>Security</a:t>
            </a:r>
            <a:endParaRPr lang="en-GB" sz="1600" dirty="0">
              <a:solidFill>
                <a:schemeClr val="tx1"/>
              </a:solidFill>
              <a:latin typeface="Times New Roman" pitchFamily="18" charset="0"/>
              <a:cs typeface="Times New Roman" pitchFamily="18" charset="0"/>
            </a:endParaRPr>
          </a:p>
        </p:txBody>
      </p:sp>
      <p:sp>
        <p:nvSpPr>
          <p:cNvPr id="10" name="Footer Placeholder 9">
            <a:extLst>
              <a:ext uri="{FF2B5EF4-FFF2-40B4-BE49-F238E27FC236}">
                <a16:creationId xmlns:a16="http://schemas.microsoft.com/office/drawing/2014/main" xmlns="" id="{D2186069-FC8E-433D-9BB4-942220CE8CFB}"/>
              </a:ext>
            </a:extLst>
          </p:cNvPr>
          <p:cNvSpPr>
            <a:spLocks noGrp="1"/>
          </p:cNvSpPr>
          <p:nvPr>
            <p:ph type="ftr" sz="quarter" idx="11"/>
          </p:nvPr>
        </p:nvSpPr>
        <p:spPr>
          <a:xfrm>
            <a:off x="4038600" y="6356350"/>
            <a:ext cx="4114800" cy="365125"/>
          </a:xfrm>
        </p:spPr>
        <p:txBody>
          <a:bodyPr/>
          <a:lstStyle/>
          <a:p>
            <a:endParaRPr lang="en-US" dirty="0"/>
          </a:p>
        </p:txBody>
      </p:sp>
      <p:sp>
        <p:nvSpPr>
          <p:cNvPr id="11" name="Slide Number Placeholder 10">
            <a:extLst>
              <a:ext uri="{FF2B5EF4-FFF2-40B4-BE49-F238E27FC236}">
                <a16:creationId xmlns:a16="http://schemas.microsoft.com/office/drawing/2014/main" xmlns=""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xmlns="" val="2121178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031FE9-9059-4FE8-B4AC-9771F23A1B89}"/>
              </a:ext>
            </a:extLst>
          </p:cNvPr>
          <p:cNvSpPr>
            <a:spLocks noGrp="1"/>
          </p:cNvSpPr>
          <p:nvPr>
            <p:ph type="title"/>
          </p:nvPr>
        </p:nvSpPr>
        <p:spPr>
          <a:xfrm>
            <a:off x="1261641" y="255569"/>
            <a:ext cx="9965802" cy="1434335"/>
          </a:xfrm>
        </p:spPr>
        <p:txBody>
          <a:bodyPr>
            <a:normAutofit/>
          </a:bodyPr>
          <a:lstStyle/>
          <a:p>
            <a:r>
              <a:rPr lang="en-US" sz="3600" dirty="0" smtClean="0"/>
              <a:t> ARCHITECTURE </a:t>
            </a:r>
            <a:br>
              <a:rPr lang="en-US" sz="3600" dirty="0" smtClean="0"/>
            </a:br>
            <a:r>
              <a:rPr lang="en-US" sz="3600" dirty="0" smtClean="0"/>
              <a:t> </a:t>
            </a:r>
            <a:r>
              <a:rPr lang="en-US" sz="3600" dirty="0"/>
              <a:t>MODULE DESCRIPTION</a:t>
            </a:r>
          </a:p>
        </p:txBody>
      </p:sp>
      <p:sp>
        <p:nvSpPr>
          <p:cNvPr id="3" name="Content Placeholder 2">
            <a:extLst>
              <a:ext uri="{FF2B5EF4-FFF2-40B4-BE49-F238E27FC236}">
                <a16:creationId xmlns:a16="http://schemas.microsoft.com/office/drawing/2014/main" xmlns="" id="{D4A2EB3F-4D60-451F-8F45-7D6654D2FCD9}"/>
              </a:ext>
            </a:extLst>
          </p:cNvPr>
          <p:cNvSpPr>
            <a:spLocks noGrp="1"/>
          </p:cNvSpPr>
          <p:nvPr>
            <p:ph type="body" sz="quarter" idx="13"/>
          </p:nvPr>
        </p:nvSpPr>
        <p:spPr>
          <a:xfrm>
            <a:off x="1485900" y="2563123"/>
            <a:ext cx="4031945" cy="365125"/>
          </a:xfrm>
        </p:spPr>
        <p:txBody>
          <a:bodyPr vert="horz" lIns="91440" tIns="45720" rIns="91440" bIns="45720" rtlCol="0" anchor="t">
            <a:normAutofit lnSpcReduction="10000"/>
          </a:bodyPr>
          <a:lstStyle/>
          <a:p>
            <a:r>
              <a:rPr lang="en-US" b="1" dirty="0"/>
              <a:t>ENCRYPTION MODULE</a:t>
            </a:r>
          </a:p>
        </p:txBody>
      </p:sp>
      <p:sp>
        <p:nvSpPr>
          <p:cNvPr id="4" name="Text Placeholder 3">
            <a:extLst>
              <a:ext uri="{FF2B5EF4-FFF2-40B4-BE49-F238E27FC236}">
                <a16:creationId xmlns:a16="http://schemas.microsoft.com/office/drawing/2014/main" xmlns="" id="{AC1C80FB-53F9-42EE-B1E6-D0F998EC5DFA}"/>
              </a:ext>
            </a:extLst>
          </p:cNvPr>
          <p:cNvSpPr>
            <a:spLocks noGrp="1"/>
          </p:cNvSpPr>
          <p:nvPr>
            <p:ph type="body" sz="quarter" idx="15"/>
          </p:nvPr>
        </p:nvSpPr>
        <p:spPr>
          <a:xfrm>
            <a:off x="1485664" y="3070348"/>
            <a:ext cx="4031030" cy="1057308"/>
          </a:xfrm>
        </p:spPr>
        <p:txBody>
          <a:bodyPr>
            <a:normAutofit fontScale="92500"/>
          </a:bodyPr>
          <a:lstStyle/>
          <a:p>
            <a:pPr algn="just"/>
            <a:r>
              <a:rPr lang="en-IN" sz="1800" dirty="0">
                <a:effectLst/>
                <a:ea typeface="Calibri" panose="020F0502020204030204" pitchFamily="34" charset="0"/>
              </a:rPr>
              <a:t>This module encrypts plain text to cipher text. In this model we have used the AES and RSA encryption algorithm</a:t>
            </a:r>
            <a:endParaRPr lang="en-US" dirty="0"/>
          </a:p>
        </p:txBody>
      </p:sp>
      <p:sp>
        <p:nvSpPr>
          <p:cNvPr id="5" name="Text Placeholder 4">
            <a:extLst>
              <a:ext uri="{FF2B5EF4-FFF2-40B4-BE49-F238E27FC236}">
                <a16:creationId xmlns:a16="http://schemas.microsoft.com/office/drawing/2014/main" xmlns="" id="{E81BA2B5-6A90-4204-ABDD-7183FBB03A02}"/>
              </a:ext>
            </a:extLst>
          </p:cNvPr>
          <p:cNvSpPr>
            <a:spLocks noGrp="1"/>
          </p:cNvSpPr>
          <p:nvPr>
            <p:ph type="body" sz="quarter" idx="16"/>
          </p:nvPr>
        </p:nvSpPr>
        <p:spPr>
          <a:xfrm>
            <a:off x="6673004" y="2563123"/>
            <a:ext cx="4031945" cy="365125"/>
          </a:xfrm>
        </p:spPr>
        <p:txBody>
          <a:bodyPr>
            <a:normAutofit lnSpcReduction="10000"/>
          </a:bodyPr>
          <a:lstStyle/>
          <a:p>
            <a:r>
              <a:rPr lang="en-US" b="1" dirty="0"/>
              <a:t>DECRYPTION MODULE</a:t>
            </a:r>
          </a:p>
        </p:txBody>
      </p:sp>
      <p:sp>
        <p:nvSpPr>
          <p:cNvPr id="6" name="Text Placeholder 5">
            <a:extLst>
              <a:ext uri="{FF2B5EF4-FFF2-40B4-BE49-F238E27FC236}">
                <a16:creationId xmlns:a16="http://schemas.microsoft.com/office/drawing/2014/main" xmlns="" id="{7E7D4C34-22A0-4D54-A07D-E1E9A11463E5}"/>
              </a:ext>
            </a:extLst>
          </p:cNvPr>
          <p:cNvSpPr>
            <a:spLocks noGrp="1"/>
          </p:cNvSpPr>
          <p:nvPr>
            <p:ph type="body" sz="quarter" idx="17"/>
          </p:nvPr>
        </p:nvSpPr>
        <p:spPr>
          <a:xfrm>
            <a:off x="6673143" y="3070348"/>
            <a:ext cx="4031030" cy="1057308"/>
          </a:xfrm>
        </p:spPr>
        <p:txBody>
          <a:bodyPr>
            <a:normAutofit/>
          </a:bodyPr>
          <a:lstStyle/>
          <a:p>
            <a:pPr lvl="0" algn="just">
              <a:lnSpc>
                <a:spcPct val="115000"/>
              </a:lnSpc>
              <a:spcAft>
                <a:spcPts val="800"/>
              </a:spcAft>
            </a:pPr>
            <a:r>
              <a:rPr lang="en-IN" sz="1600" dirty="0">
                <a:effectLst/>
                <a:ea typeface="Calibri" panose="020F0502020204030204" pitchFamily="34" charset="0"/>
              </a:rPr>
              <a:t>This module performs AES/RSA decryption by using the private key and extracts the plain text from the cipher text.</a:t>
            </a:r>
          </a:p>
        </p:txBody>
      </p:sp>
      <p:sp>
        <p:nvSpPr>
          <p:cNvPr id="7" name="Text Placeholder 6">
            <a:extLst>
              <a:ext uri="{FF2B5EF4-FFF2-40B4-BE49-F238E27FC236}">
                <a16:creationId xmlns:a16="http://schemas.microsoft.com/office/drawing/2014/main" xmlns="" id="{301D392D-FB66-47A0-B628-5ADE822A2CFF}"/>
              </a:ext>
            </a:extLst>
          </p:cNvPr>
          <p:cNvSpPr>
            <a:spLocks noGrp="1"/>
          </p:cNvSpPr>
          <p:nvPr>
            <p:ph type="body" sz="quarter" idx="18"/>
          </p:nvPr>
        </p:nvSpPr>
        <p:spPr>
          <a:xfrm>
            <a:off x="1485899" y="4319431"/>
            <a:ext cx="4031945" cy="365125"/>
          </a:xfrm>
        </p:spPr>
        <p:txBody>
          <a:bodyPr>
            <a:normAutofit lnSpcReduction="10000"/>
          </a:bodyPr>
          <a:lstStyle/>
          <a:p>
            <a:r>
              <a:rPr lang="en-US" b="1" dirty="0"/>
              <a:t>ENCODING MODULE</a:t>
            </a:r>
          </a:p>
        </p:txBody>
      </p:sp>
      <p:sp>
        <p:nvSpPr>
          <p:cNvPr id="8" name="Text Placeholder 7">
            <a:extLst>
              <a:ext uri="{FF2B5EF4-FFF2-40B4-BE49-F238E27FC236}">
                <a16:creationId xmlns:a16="http://schemas.microsoft.com/office/drawing/2014/main" xmlns="" id="{51C26CE0-2506-4B44-A26F-C12BFA5B18B5}"/>
              </a:ext>
            </a:extLst>
          </p:cNvPr>
          <p:cNvSpPr>
            <a:spLocks noGrp="1"/>
          </p:cNvSpPr>
          <p:nvPr>
            <p:ph type="body" sz="quarter" idx="19"/>
          </p:nvPr>
        </p:nvSpPr>
        <p:spPr>
          <a:xfrm>
            <a:off x="1486412" y="4826656"/>
            <a:ext cx="4031030" cy="1057308"/>
          </a:xfrm>
        </p:spPr>
        <p:txBody>
          <a:bodyPr/>
          <a:lstStyle/>
          <a:p>
            <a:r>
              <a:rPr lang="en-IN" sz="1800" dirty="0">
                <a:effectLst/>
                <a:ea typeface="Calibri" panose="020F0502020204030204" pitchFamily="34" charset="0"/>
              </a:rPr>
              <a:t>This module is responsible for hiding the cipher text to the cover image by the use of steganography techniques</a:t>
            </a:r>
            <a:endParaRPr lang="en-US" dirty="0"/>
          </a:p>
        </p:txBody>
      </p:sp>
      <p:sp>
        <p:nvSpPr>
          <p:cNvPr id="9" name="Text Placeholder 8">
            <a:extLst>
              <a:ext uri="{FF2B5EF4-FFF2-40B4-BE49-F238E27FC236}">
                <a16:creationId xmlns:a16="http://schemas.microsoft.com/office/drawing/2014/main" xmlns="" id="{868F40F8-BF35-45E9-B3DD-5436362D746E}"/>
              </a:ext>
            </a:extLst>
          </p:cNvPr>
          <p:cNvSpPr>
            <a:spLocks noGrp="1"/>
          </p:cNvSpPr>
          <p:nvPr>
            <p:ph type="body" sz="quarter" idx="23"/>
          </p:nvPr>
        </p:nvSpPr>
        <p:spPr>
          <a:xfrm>
            <a:off x="6672630" y="4319431"/>
            <a:ext cx="4031945" cy="365125"/>
          </a:xfrm>
        </p:spPr>
        <p:txBody>
          <a:bodyPr>
            <a:normAutofit lnSpcReduction="10000"/>
          </a:bodyPr>
          <a:lstStyle/>
          <a:p>
            <a:r>
              <a:rPr lang="en-US" b="1" dirty="0"/>
              <a:t>DECODING MODULE</a:t>
            </a:r>
          </a:p>
        </p:txBody>
      </p:sp>
      <p:sp>
        <p:nvSpPr>
          <p:cNvPr id="10" name="Text Placeholder 9">
            <a:extLst>
              <a:ext uri="{FF2B5EF4-FFF2-40B4-BE49-F238E27FC236}">
                <a16:creationId xmlns:a16="http://schemas.microsoft.com/office/drawing/2014/main" xmlns="" id="{7F39C97C-2DDC-4706-B96C-B02FAE53A426}"/>
              </a:ext>
            </a:extLst>
          </p:cNvPr>
          <p:cNvSpPr>
            <a:spLocks noGrp="1"/>
          </p:cNvSpPr>
          <p:nvPr>
            <p:ph type="body" sz="quarter" idx="24"/>
          </p:nvPr>
        </p:nvSpPr>
        <p:spPr>
          <a:xfrm>
            <a:off x="6673143" y="4826656"/>
            <a:ext cx="4031030" cy="1057308"/>
          </a:xfrm>
        </p:spPr>
        <p:txBody>
          <a:bodyPr/>
          <a:lstStyle/>
          <a:p>
            <a:pPr algn="just"/>
            <a:r>
              <a:rPr lang="en-IN" sz="1800" dirty="0">
                <a:effectLst/>
                <a:ea typeface="Calibri" panose="020F0502020204030204" pitchFamily="34" charset="0"/>
              </a:rPr>
              <a:t>This module extracts the hidden cipher text from the </a:t>
            </a:r>
            <a:r>
              <a:rPr lang="en-IN" sz="1800" dirty="0" err="1">
                <a:effectLst/>
                <a:ea typeface="Calibri" panose="020F0502020204030204" pitchFamily="34" charset="0"/>
              </a:rPr>
              <a:t>stego</a:t>
            </a:r>
            <a:r>
              <a:rPr lang="en-IN" sz="1800" dirty="0">
                <a:effectLst/>
                <a:ea typeface="Calibri" panose="020F0502020204030204" pitchFamily="34" charset="0"/>
              </a:rPr>
              <a:t> image which is sent by the sender.</a:t>
            </a:r>
            <a:endParaRPr lang="en-US" dirty="0"/>
          </a:p>
        </p:txBody>
      </p:sp>
      <p:sp>
        <p:nvSpPr>
          <p:cNvPr id="82" name="Slide Number Placeholder 81">
            <a:extLst>
              <a:ext uri="{FF2B5EF4-FFF2-40B4-BE49-F238E27FC236}">
                <a16:creationId xmlns:a16="http://schemas.microsoft.com/office/drawing/2014/main" xmlns=""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xmlns="" val="159392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7E1C88-627C-4655-A4FB-0BB02EDB078A}"/>
              </a:ext>
            </a:extLst>
          </p:cNvPr>
          <p:cNvSpPr>
            <a:spLocks noGrp="1"/>
          </p:cNvSpPr>
          <p:nvPr>
            <p:ph type="title"/>
          </p:nvPr>
        </p:nvSpPr>
        <p:spPr>
          <a:xfrm>
            <a:off x="2905646" y="335665"/>
            <a:ext cx="6419727" cy="996629"/>
          </a:xfrm>
        </p:spPr>
        <p:txBody>
          <a:bodyPr>
            <a:normAutofit/>
          </a:bodyPr>
          <a:lstStyle/>
          <a:p>
            <a:r>
              <a:rPr lang="en-US" sz="3600" dirty="0"/>
              <a:t>ARCHITECTURE DIAGRAM</a:t>
            </a:r>
          </a:p>
        </p:txBody>
      </p:sp>
      <p:sp>
        <p:nvSpPr>
          <p:cNvPr id="6" name="Slide Number Placeholder 5">
            <a:extLst>
              <a:ext uri="{FF2B5EF4-FFF2-40B4-BE49-F238E27FC236}">
                <a16:creationId xmlns:a16="http://schemas.microsoft.com/office/drawing/2014/main" xmlns=""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7</a:t>
            </a:fld>
            <a:endParaRPr lang="en-US" dirty="0"/>
          </a:p>
        </p:txBody>
      </p:sp>
      <p:pic>
        <p:nvPicPr>
          <p:cNvPr id="9" name="Picture 8">
            <a:extLst>
              <a:ext uri="{FF2B5EF4-FFF2-40B4-BE49-F238E27FC236}">
                <a16:creationId xmlns:a16="http://schemas.microsoft.com/office/drawing/2014/main" xmlns="" id="{F5E275EA-DC13-4732-A246-FC3440AD7102}"/>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261642" y="1713053"/>
            <a:ext cx="10162572" cy="45202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xmlns="" val="1346372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4E0A63-A388-49B1-A04E-27CE9BD622EF}"/>
              </a:ext>
            </a:extLst>
          </p:cNvPr>
          <p:cNvSpPr>
            <a:spLocks noGrp="1"/>
          </p:cNvSpPr>
          <p:nvPr>
            <p:ph type="title"/>
          </p:nvPr>
        </p:nvSpPr>
        <p:spPr>
          <a:xfrm>
            <a:off x="3697227" y="156546"/>
            <a:ext cx="5431971" cy="846301"/>
          </a:xfrm>
        </p:spPr>
        <p:txBody>
          <a:bodyPr/>
          <a:lstStyle/>
          <a:p>
            <a:r>
              <a:rPr lang="en-ZA" dirty="0" smtClean="0"/>
              <a:t>     USE CASE DIAGRAM</a:t>
            </a:r>
            <a:endParaRPr lang="en-ZA" dirty="0"/>
          </a:p>
        </p:txBody>
      </p:sp>
      <p:sp>
        <p:nvSpPr>
          <p:cNvPr id="4" name="Slide Number Placeholder 3">
            <a:extLst>
              <a:ext uri="{FF2B5EF4-FFF2-40B4-BE49-F238E27FC236}">
                <a16:creationId xmlns:a16="http://schemas.microsoft.com/office/drawing/2014/main" xmlns=""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ZA" smtClean="0"/>
              <a:pPr/>
              <a:t>8</a:t>
            </a:fld>
            <a:endParaRPr lang="en-ZA" dirty="0"/>
          </a:p>
        </p:txBody>
      </p:sp>
      <p:pic>
        <p:nvPicPr>
          <p:cNvPr id="8" name="Image 74"/>
          <p:cNvPicPr/>
          <p:nvPr/>
        </p:nvPicPr>
        <p:blipFill>
          <a:blip r:embed="rId2" cstate="print"/>
          <a:stretch>
            <a:fillRect/>
          </a:stretch>
        </p:blipFill>
        <p:spPr>
          <a:xfrm>
            <a:off x="578734" y="1041722"/>
            <a:ext cx="10532962" cy="5312779"/>
          </a:xfrm>
          <a:prstGeom prst="rect">
            <a:avLst/>
          </a:prstGeom>
        </p:spPr>
      </p:pic>
    </p:spTree>
    <p:extLst>
      <p:ext uri="{BB962C8B-B14F-4D97-AF65-F5344CB8AC3E}">
        <p14:creationId xmlns:p14="http://schemas.microsoft.com/office/powerpoint/2010/main" xmlns="" val="356782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907" y="0"/>
            <a:ext cx="10495614" cy="914400"/>
          </a:xfrm>
        </p:spPr>
        <p:txBody>
          <a:bodyPr>
            <a:normAutofit fontScale="90000"/>
          </a:bodyPr>
          <a:lstStyle/>
          <a:p>
            <a:pPr marL="342900" indent="-342900"/>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t>
            </a:r>
            <a:br>
              <a:rPr lang="en-US" sz="1600" dirty="0" smtClean="0">
                <a:latin typeface="Times New Roman" pitchFamily="18" charset="0"/>
                <a:cs typeface="Times New Roman" pitchFamily="18" charset="0"/>
              </a:rPr>
            </a:br>
            <a:r>
              <a:rPr lang="en-US" sz="2700" b="1" dirty="0" smtClean="0">
                <a:latin typeface="Times New Roman" pitchFamily="18" charset="0"/>
                <a:cs typeface="Times New Roman" pitchFamily="18" charset="0"/>
              </a:rPr>
              <a:t>  </a:t>
            </a:r>
            <a:r>
              <a:rPr lang="en-US" sz="2700" b="1" dirty="0" smtClean="0">
                <a:latin typeface="Times New Roman" pitchFamily="18" charset="0"/>
                <a:cs typeface="Times New Roman" pitchFamily="18" charset="0"/>
              </a:rPr>
              <a:t>                                   Advantages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The </a:t>
            </a:r>
            <a:r>
              <a:rPr lang="en-US" sz="1800" dirty="0" smtClean="0">
                <a:latin typeface="Times New Roman" pitchFamily="18" charset="0"/>
                <a:cs typeface="Times New Roman" pitchFamily="18" charset="0"/>
              </a:rPr>
              <a:t>main advantages of this system is Security that it provides security </a:t>
            </a:r>
            <a:r>
              <a:rPr lang="en-US" sz="1800" dirty="0" smtClean="0">
                <a:latin typeface="Times New Roman" pitchFamily="18" charset="0"/>
                <a:cs typeface="Times New Roman" pitchFamily="18" charset="0"/>
              </a:rPr>
              <a:t>to </a:t>
            </a:r>
            <a:r>
              <a:rPr lang="en-US" sz="1800" dirty="0" smtClean="0">
                <a:latin typeface="Times New Roman" pitchFamily="18" charset="0"/>
                <a:cs typeface="Times New Roman" pitchFamily="18" charset="0"/>
              </a:rPr>
              <a:t>your messages without knowing to third party.</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Number of bits have been replaced according to user or sender, therefore third party can not quess password.</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Normal network user cant guess image.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In steganography anyone cant jump on suspect by looking images.</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It is Reliable.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Easy to use.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Easy Maintenance.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System have been secured by password authentication</a:t>
            </a:r>
            <a:endParaRPr lang="en-US" sz="1800" dirty="0">
              <a:latin typeface="Times New Roman" pitchFamily="18" charset="0"/>
              <a:cs typeface="Times New Roman" pitchFamily="18" charset="0"/>
            </a:endParaRPr>
          </a:p>
        </p:txBody>
      </p:sp>
      <p:sp>
        <p:nvSpPr>
          <p:cNvPr id="11" name="Slide Number Placeholder 10"/>
          <p:cNvSpPr>
            <a:spLocks noGrp="1"/>
          </p:cNvSpPr>
          <p:nvPr>
            <p:ph type="sldNum" sz="quarter" idx="22"/>
          </p:nvPr>
        </p:nvSpPr>
        <p:spPr/>
        <p:txBody>
          <a:bodyPr/>
          <a:lstStyle/>
          <a:p>
            <a:fld id="{B5CEABB6-07DC-46E8-9B57-56EC44A396E5}"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4E0A63-A388-49B1-A04E-27CE9BD622EF}"/>
              </a:ext>
            </a:extLst>
          </p:cNvPr>
          <p:cNvSpPr>
            <a:spLocks noGrp="1"/>
          </p:cNvSpPr>
          <p:nvPr>
            <p:ph type="title"/>
          </p:nvPr>
        </p:nvSpPr>
        <p:spPr>
          <a:xfrm>
            <a:off x="4900995" y="206302"/>
            <a:ext cx="2830894" cy="846301"/>
          </a:xfrm>
        </p:spPr>
        <p:txBody>
          <a:bodyPr/>
          <a:lstStyle/>
          <a:p>
            <a:r>
              <a:rPr lang="en-ZA" dirty="0" smtClean="0"/>
              <a:t>   Results  </a:t>
            </a:r>
            <a:endParaRPr lang="en-ZA" dirty="0"/>
          </a:p>
        </p:txBody>
      </p:sp>
      <p:sp>
        <p:nvSpPr>
          <p:cNvPr id="4" name="Slide Number Placeholder 3">
            <a:extLst>
              <a:ext uri="{FF2B5EF4-FFF2-40B4-BE49-F238E27FC236}">
                <a16:creationId xmlns:a16="http://schemas.microsoft.com/office/drawing/2014/main" xmlns=""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ZA" smtClean="0"/>
              <a:pPr/>
              <a:t>10</a:t>
            </a:fld>
            <a:endParaRPr lang="en-ZA" dirty="0"/>
          </a:p>
        </p:txBody>
      </p:sp>
      <p:pic>
        <p:nvPicPr>
          <p:cNvPr id="9" name="Picture 6"/>
          <p:cNvPicPr>
            <a:picLocks noChangeAspect="1" noChangeArrowheads="1"/>
          </p:cNvPicPr>
          <p:nvPr/>
        </p:nvPicPr>
        <p:blipFill>
          <a:blip r:embed="rId2"/>
          <a:srcRect/>
          <a:stretch>
            <a:fillRect/>
          </a:stretch>
        </p:blipFill>
        <p:spPr bwMode="auto">
          <a:xfrm>
            <a:off x="1504709" y="1006999"/>
            <a:ext cx="9861631" cy="5301204"/>
          </a:xfrm>
          <a:prstGeom prst="rect">
            <a:avLst/>
          </a:prstGeom>
          <a:noFill/>
          <a:ln w="9525">
            <a:noFill/>
            <a:miter lim="800000"/>
            <a:headEnd/>
            <a:tailEnd/>
          </a:ln>
        </p:spPr>
      </p:pic>
    </p:spTree>
    <p:extLst>
      <p:ext uri="{BB962C8B-B14F-4D97-AF65-F5344CB8AC3E}">
        <p14:creationId xmlns:p14="http://schemas.microsoft.com/office/powerpoint/2010/main" xmlns="" val="2069393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22"/>
          </p:nvPr>
        </p:nvSpPr>
        <p:spPr/>
        <p:txBody>
          <a:bodyPr/>
          <a:lstStyle/>
          <a:p>
            <a:fld id="{B5CEABB6-07DC-46E8-9B57-56EC44A396E5}" type="slidenum">
              <a:rPr lang="en-US" smtClean="0"/>
              <a:pPr/>
              <a:t>11</a:t>
            </a:fld>
            <a:endParaRPr lang="en-US" dirty="0"/>
          </a:p>
        </p:txBody>
      </p:sp>
      <p:grpSp>
        <p:nvGrpSpPr>
          <p:cNvPr id="12" name="Group 4"/>
          <p:cNvGrpSpPr>
            <a:grpSpLocks noGrp="1"/>
          </p:cNvGrpSpPr>
          <p:nvPr>
            <p:ph type="body" sz="quarter" idx="26"/>
          </p:nvPr>
        </p:nvGrpSpPr>
        <p:grpSpPr bwMode="auto">
          <a:xfrm>
            <a:off x="1052513" y="763588"/>
            <a:ext cx="10301287" cy="5567362"/>
            <a:chOff x="1398" y="350"/>
            <a:chExt cx="9041" cy="5926"/>
          </a:xfrm>
        </p:grpSpPr>
        <p:pic>
          <p:nvPicPr>
            <p:cNvPr id="13" name="Picture 5"/>
            <p:cNvPicPr>
              <a:picLocks noChangeAspect="1" noChangeArrowheads="1"/>
            </p:cNvPicPr>
            <p:nvPr/>
          </p:nvPicPr>
          <p:blipFill>
            <a:blip r:embed="rId2"/>
            <a:srcRect/>
            <a:stretch>
              <a:fillRect/>
            </a:stretch>
          </p:blipFill>
          <p:spPr bwMode="auto">
            <a:xfrm>
              <a:off x="1444" y="487"/>
              <a:ext cx="8803" cy="5493"/>
            </a:xfrm>
            <a:prstGeom prst="rect">
              <a:avLst/>
            </a:prstGeom>
            <a:noFill/>
            <a:ln w="9525">
              <a:noFill/>
              <a:miter lim="800000"/>
              <a:headEnd/>
              <a:tailEnd/>
            </a:ln>
          </p:spPr>
        </p:pic>
        <p:sp>
          <p:nvSpPr>
            <p:cNvPr id="14" name="Rectangle 6"/>
            <p:cNvSpPr>
              <a:spLocks noChangeArrowheads="1"/>
            </p:cNvSpPr>
            <p:nvPr/>
          </p:nvSpPr>
          <p:spPr bwMode="auto">
            <a:xfrm>
              <a:off x="1398" y="350"/>
              <a:ext cx="9041" cy="5926"/>
            </a:xfrm>
            <a:prstGeom prst="rect">
              <a:avLst/>
            </a:prstGeom>
            <a:noFill/>
            <a:ln w="9525">
              <a:solidFill>
                <a:srgbClr val="000000"/>
              </a:solidFill>
              <a:miter lim="800000"/>
              <a:headEnd/>
              <a:tailEnd/>
            </a:ln>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A6F7BB-30A8-4980-AD4A-2FB0B53FA6C9}"/>
              </a:ext>
            </a:extLst>
          </p:cNvPr>
          <p:cNvSpPr>
            <a:spLocks noGrp="1"/>
          </p:cNvSpPr>
          <p:nvPr>
            <p:ph type="title"/>
          </p:nvPr>
        </p:nvSpPr>
        <p:spPr>
          <a:xfrm>
            <a:off x="1954604" y="475489"/>
            <a:ext cx="8421688" cy="913474"/>
          </a:xfrm>
        </p:spPr>
        <p:txBody>
          <a:bodyPr/>
          <a:lstStyle/>
          <a:p>
            <a:r>
              <a:rPr lang="en-US" dirty="0" smtClean="0"/>
              <a:t>     TESTING </a:t>
            </a:r>
            <a:r>
              <a:rPr lang="en-US" dirty="0"/>
              <a:t>PICS</a:t>
            </a:r>
          </a:p>
        </p:txBody>
      </p:sp>
      <p:sp>
        <p:nvSpPr>
          <p:cNvPr id="36" name="Text Placeholder 35">
            <a:extLst>
              <a:ext uri="{FF2B5EF4-FFF2-40B4-BE49-F238E27FC236}">
                <a16:creationId xmlns:a16="http://schemas.microsoft.com/office/drawing/2014/main" xmlns="" id="{23BA8AAF-B08B-441B-AAF3-590A568329BF}"/>
              </a:ext>
            </a:extLst>
          </p:cNvPr>
          <p:cNvSpPr>
            <a:spLocks noGrp="1"/>
          </p:cNvSpPr>
          <p:nvPr>
            <p:ph type="body" idx="1"/>
          </p:nvPr>
        </p:nvSpPr>
        <p:spPr>
          <a:xfrm>
            <a:off x="2055753" y="3723826"/>
            <a:ext cx="1828800" cy="343061"/>
          </a:xfrm>
        </p:spPr>
        <p:txBody>
          <a:bodyPr/>
          <a:lstStyle/>
          <a:p>
            <a:r>
              <a:rPr lang="en-US" dirty="0"/>
              <a:t>PIC1</a:t>
            </a:r>
          </a:p>
          <a:p>
            <a:r>
              <a:rPr lang="en-US" dirty="0"/>
              <a:t>ORIGINAL IMAGE</a:t>
            </a:r>
          </a:p>
        </p:txBody>
      </p:sp>
      <p:sp>
        <p:nvSpPr>
          <p:cNvPr id="5" name="Slide Number Placeholder 4">
            <a:extLst>
              <a:ext uri="{FF2B5EF4-FFF2-40B4-BE49-F238E27FC236}">
                <a16:creationId xmlns:a16="http://schemas.microsoft.com/office/drawing/2014/main" xmlns="" id="{2E1923C7-5010-4C4F-A932-4BDA0B62A7C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pic>
        <p:nvPicPr>
          <p:cNvPr id="9" name="Picture Placeholder 8">
            <a:extLst>
              <a:ext uri="{FF2B5EF4-FFF2-40B4-BE49-F238E27FC236}">
                <a16:creationId xmlns:a16="http://schemas.microsoft.com/office/drawing/2014/main" xmlns="" id="{B9016972-A323-42B9-A7C5-A5099CC779E9}"/>
              </a:ext>
            </a:extLst>
          </p:cNvPr>
          <p:cNvPicPr>
            <a:picLocks noGrp="1" noChangeAspect="1"/>
          </p:cNvPicPr>
          <p:nvPr>
            <p:ph type="pic" sz="quarter" idx="14"/>
          </p:nvPr>
        </p:nvPicPr>
        <p:blipFill>
          <a:blip r:embed="rId2"/>
          <a:srcRect l="16641" r="16641"/>
          <a:stretch>
            <a:fillRect/>
          </a:stretch>
        </p:blipFill>
        <p:spPr>
          <a:xfrm>
            <a:off x="2432761" y="2463599"/>
            <a:ext cx="1066800" cy="1066800"/>
          </a:xfrm>
        </p:spPr>
      </p:pic>
      <p:pic>
        <p:nvPicPr>
          <p:cNvPr id="13" name="Picture Placeholder 12">
            <a:extLst>
              <a:ext uri="{FF2B5EF4-FFF2-40B4-BE49-F238E27FC236}">
                <a16:creationId xmlns:a16="http://schemas.microsoft.com/office/drawing/2014/main" xmlns="" id="{4F0FFBE6-9C6E-4F17-8229-C27613172C5E}"/>
              </a:ext>
            </a:extLst>
          </p:cNvPr>
          <p:cNvPicPr>
            <a:picLocks noGrp="1" noChangeAspect="1"/>
          </p:cNvPicPr>
          <p:nvPr>
            <p:ph type="pic" sz="quarter" idx="15"/>
          </p:nvPr>
        </p:nvPicPr>
        <p:blipFill>
          <a:blip r:embed="rId3"/>
          <a:srcRect l="11016" r="11016"/>
          <a:stretch>
            <a:fillRect/>
          </a:stretch>
        </p:blipFill>
        <p:spPr>
          <a:xfrm>
            <a:off x="5464761" y="2382576"/>
            <a:ext cx="1066800" cy="1066800"/>
          </a:xfrm>
        </p:spPr>
      </p:pic>
      <p:pic>
        <p:nvPicPr>
          <p:cNvPr id="17" name="Picture Placeholder 16">
            <a:extLst>
              <a:ext uri="{FF2B5EF4-FFF2-40B4-BE49-F238E27FC236}">
                <a16:creationId xmlns:a16="http://schemas.microsoft.com/office/drawing/2014/main" xmlns="" id="{363C2D51-206D-4784-8AF7-E2EC1C4DBCE9}"/>
              </a:ext>
            </a:extLst>
          </p:cNvPr>
          <p:cNvPicPr>
            <a:picLocks noGrp="1" noChangeAspect="1"/>
          </p:cNvPicPr>
          <p:nvPr>
            <p:ph type="pic" sz="quarter" idx="16"/>
          </p:nvPr>
        </p:nvPicPr>
        <p:blipFill>
          <a:blip r:embed="rId4"/>
          <a:srcRect l="18125" r="18125"/>
          <a:stretch>
            <a:fillRect/>
          </a:stretch>
        </p:blipFill>
        <p:spPr>
          <a:xfrm>
            <a:off x="8997146" y="2382576"/>
            <a:ext cx="1066800" cy="1066800"/>
          </a:xfrm>
        </p:spPr>
      </p:pic>
      <p:pic>
        <p:nvPicPr>
          <p:cNvPr id="48" name="Picture Placeholder 8">
            <a:extLst>
              <a:ext uri="{FF2B5EF4-FFF2-40B4-BE49-F238E27FC236}">
                <a16:creationId xmlns:a16="http://schemas.microsoft.com/office/drawing/2014/main" xmlns="" id="{E795C0F5-20C6-48A2-B51D-BC00A66D811C}"/>
              </a:ext>
            </a:extLst>
          </p:cNvPr>
          <p:cNvPicPr>
            <a:picLocks noGrp="1" noChangeAspect="1"/>
          </p:cNvPicPr>
          <p:nvPr>
            <p:ph type="pic" sz="quarter" idx="26"/>
          </p:nvPr>
        </p:nvPicPr>
        <p:blipFill>
          <a:blip r:embed="rId2"/>
          <a:srcRect l="16641" r="16641"/>
          <a:stretch>
            <a:fillRect/>
          </a:stretch>
        </p:blipFill>
        <p:spPr>
          <a:xfrm>
            <a:off x="2501458" y="4473033"/>
            <a:ext cx="1066800" cy="1066800"/>
          </a:xfrm>
        </p:spPr>
      </p:pic>
      <p:pic>
        <p:nvPicPr>
          <p:cNvPr id="55" name="Picture Placeholder 12">
            <a:extLst>
              <a:ext uri="{FF2B5EF4-FFF2-40B4-BE49-F238E27FC236}">
                <a16:creationId xmlns:a16="http://schemas.microsoft.com/office/drawing/2014/main" xmlns="" id="{A0C18DC4-C771-4B61-8DB6-231D326888AF}"/>
              </a:ext>
            </a:extLst>
          </p:cNvPr>
          <p:cNvPicPr>
            <a:picLocks noGrp="1" noChangeAspect="1"/>
          </p:cNvPicPr>
          <p:nvPr>
            <p:ph type="pic" sz="quarter" idx="27"/>
          </p:nvPr>
        </p:nvPicPr>
        <p:blipFill>
          <a:blip r:embed="rId3"/>
          <a:srcRect l="11016" r="11016"/>
          <a:stretch>
            <a:fillRect/>
          </a:stretch>
        </p:blipFill>
        <p:spPr>
          <a:xfrm>
            <a:off x="5626461" y="4507757"/>
            <a:ext cx="1066800" cy="1066800"/>
          </a:xfrm>
          <a:prstGeom prst="rect">
            <a:avLst/>
          </a:prstGeom>
          <a:solidFill>
            <a:schemeClr val="tx1"/>
          </a:solidFill>
        </p:spPr>
      </p:pic>
      <p:pic>
        <p:nvPicPr>
          <p:cNvPr id="57" name="Picture Placeholder 16">
            <a:extLst>
              <a:ext uri="{FF2B5EF4-FFF2-40B4-BE49-F238E27FC236}">
                <a16:creationId xmlns:a16="http://schemas.microsoft.com/office/drawing/2014/main" xmlns="" id="{07C67DB5-8590-4D05-8F72-798E7EC8AFAC}"/>
              </a:ext>
            </a:extLst>
          </p:cNvPr>
          <p:cNvPicPr>
            <a:picLocks noGrp="1" noChangeAspect="1"/>
          </p:cNvPicPr>
          <p:nvPr>
            <p:ph type="pic" sz="quarter" idx="28"/>
          </p:nvPr>
        </p:nvPicPr>
        <p:blipFill>
          <a:blip r:embed="rId4"/>
          <a:srcRect l="18125" r="18125"/>
          <a:stretch>
            <a:fillRect/>
          </a:stretch>
        </p:blipFill>
        <p:spPr>
          <a:xfrm>
            <a:off x="9124246" y="4496183"/>
            <a:ext cx="1066800" cy="1066800"/>
          </a:xfrm>
        </p:spPr>
      </p:pic>
      <p:sp>
        <p:nvSpPr>
          <p:cNvPr id="65" name="Text Placeholder 35">
            <a:extLst>
              <a:ext uri="{FF2B5EF4-FFF2-40B4-BE49-F238E27FC236}">
                <a16:creationId xmlns:a16="http://schemas.microsoft.com/office/drawing/2014/main" xmlns="" id="{5B5980D0-2738-445D-B1E7-407B2DABF29D}"/>
              </a:ext>
            </a:extLst>
          </p:cNvPr>
          <p:cNvSpPr txBox="1">
            <a:spLocks/>
          </p:cNvSpPr>
          <p:nvPr/>
        </p:nvSpPr>
        <p:spPr>
          <a:xfrm>
            <a:off x="5246478" y="3827998"/>
            <a:ext cx="1828800" cy="34306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1050" kern="1200" spc="150" baseline="0" dirty="0" smtClean="0">
                <a:solidFill>
                  <a:schemeClr val="bg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IN" dirty="0"/>
              <a:t>PIC2</a:t>
            </a:r>
          </a:p>
          <a:p>
            <a:r>
              <a:rPr lang="en-IN" dirty="0"/>
              <a:t>ORIGINAL IMAGE</a:t>
            </a:r>
          </a:p>
        </p:txBody>
      </p:sp>
      <p:sp>
        <p:nvSpPr>
          <p:cNvPr id="76" name="Text Placeholder 35">
            <a:extLst>
              <a:ext uri="{FF2B5EF4-FFF2-40B4-BE49-F238E27FC236}">
                <a16:creationId xmlns:a16="http://schemas.microsoft.com/office/drawing/2014/main" xmlns="" id="{1A0141AF-EC38-4205-8D42-F2331049EF7A}"/>
              </a:ext>
            </a:extLst>
          </p:cNvPr>
          <p:cNvSpPr txBox="1">
            <a:spLocks/>
          </p:cNvSpPr>
          <p:nvPr/>
        </p:nvSpPr>
        <p:spPr>
          <a:xfrm>
            <a:off x="8728563" y="3674809"/>
            <a:ext cx="1828800" cy="34306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1050" kern="1200" spc="150" baseline="0" dirty="0" smtClean="0">
                <a:solidFill>
                  <a:schemeClr val="bg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IN" dirty="0"/>
              <a:t>PIC3</a:t>
            </a:r>
          </a:p>
          <a:p>
            <a:r>
              <a:rPr lang="en-IN" dirty="0"/>
              <a:t>ORIGINAL IMAGE</a:t>
            </a:r>
          </a:p>
        </p:txBody>
      </p:sp>
      <p:sp>
        <p:nvSpPr>
          <p:cNvPr id="92" name="Text Placeholder 35">
            <a:extLst>
              <a:ext uri="{FF2B5EF4-FFF2-40B4-BE49-F238E27FC236}">
                <a16:creationId xmlns:a16="http://schemas.microsoft.com/office/drawing/2014/main" xmlns="" id="{B39708C1-5411-4F40-8DE6-6BEE6557E09B}"/>
              </a:ext>
            </a:extLst>
          </p:cNvPr>
          <p:cNvSpPr txBox="1">
            <a:spLocks/>
          </p:cNvSpPr>
          <p:nvPr/>
        </p:nvSpPr>
        <p:spPr>
          <a:xfrm>
            <a:off x="2232730" y="5796381"/>
            <a:ext cx="1828800" cy="34306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1050" kern="1200" spc="150" baseline="0" dirty="0" smtClean="0">
                <a:solidFill>
                  <a:schemeClr val="bg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IN" dirty="0"/>
              <a:t>ENCRYPTED</a:t>
            </a:r>
          </a:p>
          <a:p>
            <a:r>
              <a:rPr lang="en-IN" dirty="0"/>
              <a:t>ENCRYPTED IMAGE</a:t>
            </a:r>
          </a:p>
        </p:txBody>
      </p:sp>
      <p:sp>
        <p:nvSpPr>
          <p:cNvPr id="96" name="Text Placeholder 35">
            <a:extLst>
              <a:ext uri="{FF2B5EF4-FFF2-40B4-BE49-F238E27FC236}">
                <a16:creationId xmlns:a16="http://schemas.microsoft.com/office/drawing/2014/main" xmlns="" id="{2DC5585A-DAEF-4BFB-989D-491AF15E45F4}"/>
              </a:ext>
            </a:extLst>
          </p:cNvPr>
          <p:cNvSpPr txBox="1">
            <a:spLocks/>
          </p:cNvSpPr>
          <p:nvPr/>
        </p:nvSpPr>
        <p:spPr>
          <a:xfrm>
            <a:off x="5385375" y="5783933"/>
            <a:ext cx="1828800" cy="34306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1050" kern="1200" spc="150" baseline="0" dirty="0" smtClean="0">
                <a:solidFill>
                  <a:schemeClr val="bg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IN" dirty="0"/>
              <a:t>ENCRYPTED</a:t>
            </a:r>
          </a:p>
          <a:p>
            <a:r>
              <a:rPr lang="en-IN" dirty="0"/>
              <a:t>ENCRYPTED IMAGE</a:t>
            </a:r>
          </a:p>
        </p:txBody>
      </p:sp>
      <p:sp>
        <p:nvSpPr>
          <p:cNvPr id="97" name="Text Placeholder 35">
            <a:extLst>
              <a:ext uri="{FF2B5EF4-FFF2-40B4-BE49-F238E27FC236}">
                <a16:creationId xmlns:a16="http://schemas.microsoft.com/office/drawing/2014/main" xmlns="" id="{23CC7A99-BE6E-496C-B035-B836A6228A03}"/>
              </a:ext>
            </a:extLst>
          </p:cNvPr>
          <p:cNvSpPr txBox="1">
            <a:spLocks/>
          </p:cNvSpPr>
          <p:nvPr/>
        </p:nvSpPr>
        <p:spPr>
          <a:xfrm>
            <a:off x="8767474" y="5715506"/>
            <a:ext cx="1828800" cy="34306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1050" kern="1200" spc="150" baseline="0" dirty="0" smtClean="0">
                <a:solidFill>
                  <a:schemeClr val="bg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IN" dirty="0"/>
              <a:t>ENCRYPTED</a:t>
            </a:r>
          </a:p>
          <a:p>
            <a:r>
              <a:rPr lang="en-IN" dirty="0"/>
              <a:t>ENCRYPTED IMAGE</a:t>
            </a:r>
          </a:p>
        </p:txBody>
      </p:sp>
    </p:spTree>
    <p:extLst>
      <p:ext uri="{BB962C8B-B14F-4D97-AF65-F5344CB8AC3E}">
        <p14:creationId xmlns:p14="http://schemas.microsoft.com/office/powerpoint/2010/main" xmlns="" val="3396266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78" y="138896"/>
            <a:ext cx="8421688" cy="867175"/>
          </a:xfrm>
        </p:spPr>
        <p:txBody>
          <a:bodyPr/>
          <a:lstStyle/>
          <a:p>
            <a:r>
              <a:rPr lang="en-US" altLang="en-US" sz="1800" b="1" cap="none" spc="0" dirty="0" smtClean="0">
                <a:solidFill>
                  <a:prstClr val="black"/>
                </a:solidFill>
                <a:latin typeface="Arial" charset="0"/>
                <a:cs typeface="Arial" charset="0"/>
              </a:rPr>
              <a:t>NOVELTY OF THE PROJECT</a:t>
            </a:r>
            <a:br>
              <a:rPr lang="en-US" altLang="en-US" sz="1800" b="1" cap="none" spc="0" dirty="0" smtClean="0">
                <a:solidFill>
                  <a:prstClr val="black"/>
                </a:solidFill>
                <a:latin typeface="Arial" charset="0"/>
                <a:cs typeface="Arial" charset="0"/>
              </a:rPr>
            </a:br>
            <a:r>
              <a:rPr lang="en-US" altLang="en-US" sz="1800" b="1" cap="none" spc="0" dirty="0" smtClean="0">
                <a:solidFill>
                  <a:prstClr val="black"/>
                </a:solidFill>
                <a:latin typeface="Arial" charset="0"/>
                <a:cs typeface="Arial" charset="0"/>
              </a:rPr>
              <a:t/>
            </a:r>
            <a:br>
              <a:rPr lang="en-US" altLang="en-US" sz="1800" b="1" cap="none" spc="0" dirty="0" smtClean="0">
                <a:solidFill>
                  <a:prstClr val="black"/>
                </a:solidFill>
                <a:latin typeface="Arial" charset="0"/>
                <a:cs typeface="Arial" charset="0"/>
              </a:rPr>
            </a:br>
            <a:r>
              <a:rPr lang="en-US" altLang="en-US" sz="1800" b="1" cap="none" spc="0" dirty="0" smtClean="0">
                <a:solidFill>
                  <a:prstClr val="black"/>
                </a:solidFill>
                <a:latin typeface="Arial" charset="0"/>
                <a:cs typeface="Arial" charset="0"/>
              </a:rPr>
              <a:t>FUTURE SCOPE FOR FURTHER DEVELOPMENT</a:t>
            </a:r>
            <a:endParaRPr lang="en-US" dirty="0"/>
          </a:p>
        </p:txBody>
      </p:sp>
      <p:sp>
        <p:nvSpPr>
          <p:cNvPr id="20" name="Text Placeholder 19"/>
          <p:cNvSpPr>
            <a:spLocks noGrp="1"/>
          </p:cNvSpPr>
          <p:nvPr>
            <p:ph type="body" idx="33"/>
          </p:nvPr>
        </p:nvSpPr>
        <p:spPr>
          <a:xfrm>
            <a:off x="405113" y="891252"/>
            <a:ext cx="11482086" cy="5428352"/>
          </a:xfrm>
        </p:spPr>
        <p:txBody>
          <a:bodyPr/>
          <a:lstStyle/>
          <a:p>
            <a:pPr marL="228600" lvl="0" indent="-228600" algn="just" eaLnBrk="0" fontAlgn="base" hangingPunct="0">
              <a:lnSpc>
                <a:spcPct val="150000"/>
              </a:lnSpc>
              <a:spcAft>
                <a:spcPct val="0"/>
              </a:spcAft>
              <a:buFont typeface="Arial" charset="0"/>
              <a:buChar char="•"/>
            </a:pPr>
            <a:r>
              <a:rPr lang="en-US" sz="1800" spc="0" dirty="0">
                <a:solidFill>
                  <a:prstClr val="black"/>
                </a:solidFill>
                <a:latin typeface="Times New Roman" pitchFamily="18" charset="0"/>
                <a:ea typeface="+mn-ea"/>
                <a:cs typeface="Times New Roman" pitchFamily="18" charset="0"/>
              </a:rPr>
              <a:t>we conclude that using both </a:t>
            </a:r>
            <a:r>
              <a:rPr lang="en-US" sz="1800" spc="0" dirty="0" err="1">
                <a:solidFill>
                  <a:prstClr val="black"/>
                </a:solidFill>
                <a:latin typeface="Times New Roman" pitchFamily="18" charset="0"/>
                <a:ea typeface="+mn-ea"/>
                <a:cs typeface="Times New Roman" pitchFamily="18" charset="0"/>
              </a:rPr>
              <a:t>steganography</a:t>
            </a:r>
            <a:r>
              <a:rPr lang="en-US" sz="1800" spc="0" dirty="0">
                <a:solidFill>
                  <a:prstClr val="black"/>
                </a:solidFill>
                <a:latin typeface="Times New Roman" pitchFamily="18" charset="0"/>
                <a:ea typeface="+mn-ea"/>
                <a:cs typeface="Times New Roman" pitchFamily="18" charset="0"/>
              </a:rPr>
              <a:t> and cryptography together refers to secure information and communication technique. The model states that the data to be passed on is input for the encryption process and the output of the it is the input for encoding purpose that is the </a:t>
            </a:r>
            <a:r>
              <a:rPr lang="en-US" sz="1800" spc="0" dirty="0" err="1">
                <a:solidFill>
                  <a:prstClr val="black"/>
                </a:solidFill>
                <a:latin typeface="Times New Roman" pitchFamily="18" charset="0"/>
                <a:ea typeface="+mn-ea"/>
                <a:cs typeface="Times New Roman" pitchFamily="18" charset="0"/>
              </a:rPr>
              <a:t>steganography</a:t>
            </a:r>
            <a:r>
              <a:rPr lang="en-US" sz="1800" spc="0" dirty="0">
                <a:solidFill>
                  <a:prstClr val="black"/>
                </a:solidFill>
                <a:latin typeface="Times New Roman" pitchFamily="18" charset="0"/>
                <a:ea typeface="+mn-ea"/>
                <a:cs typeface="Times New Roman" pitchFamily="18" charset="0"/>
              </a:rPr>
              <a:t> process. While to the other end, the decoding is done first via the </a:t>
            </a:r>
            <a:r>
              <a:rPr lang="en-US" sz="1800" spc="0" dirty="0" err="1">
                <a:solidFill>
                  <a:prstClr val="black"/>
                </a:solidFill>
                <a:latin typeface="Times New Roman" pitchFamily="18" charset="0"/>
                <a:ea typeface="+mn-ea"/>
                <a:cs typeface="Times New Roman" pitchFamily="18" charset="0"/>
              </a:rPr>
              <a:t>steganographic</a:t>
            </a:r>
            <a:r>
              <a:rPr lang="en-US" sz="1800" spc="0" dirty="0">
                <a:solidFill>
                  <a:prstClr val="black"/>
                </a:solidFill>
                <a:latin typeface="Times New Roman" pitchFamily="18" charset="0"/>
                <a:ea typeface="+mn-ea"/>
                <a:cs typeface="Times New Roman" pitchFamily="18" charset="0"/>
              </a:rPr>
              <a:t> techniques and then the decryption. </a:t>
            </a:r>
          </a:p>
          <a:p>
            <a:pPr marL="228600" lvl="0" indent="-228600" algn="just" eaLnBrk="0" fontAlgn="base" hangingPunct="0">
              <a:lnSpc>
                <a:spcPct val="150000"/>
              </a:lnSpc>
              <a:spcAft>
                <a:spcPct val="0"/>
              </a:spcAft>
              <a:buFont typeface="Arial" charset="0"/>
              <a:buChar char="•"/>
            </a:pPr>
            <a:r>
              <a:rPr lang="en-US" sz="1800" spc="0" dirty="0">
                <a:solidFill>
                  <a:prstClr val="black"/>
                </a:solidFill>
                <a:latin typeface="Times New Roman" pitchFamily="18" charset="0"/>
                <a:ea typeface="+mn-ea"/>
                <a:cs typeface="Times New Roman" pitchFamily="18" charset="0"/>
              </a:rPr>
              <a:t>This brings an extra security to the whole system for secure communication and transfer. The GUI implementation for the whole system giving choice to the user to choose his preferable technique for secure communication is added as a part of innovative idea to </a:t>
            </a:r>
            <a:r>
              <a:rPr lang="en-US" sz="1800" spc="0" dirty="0" smtClean="0">
                <a:solidFill>
                  <a:prstClr val="black"/>
                </a:solidFill>
                <a:latin typeface="Times New Roman" pitchFamily="18" charset="0"/>
                <a:ea typeface="+mn-ea"/>
                <a:cs typeface="Times New Roman" pitchFamily="18" charset="0"/>
              </a:rPr>
              <a:t>it.</a:t>
            </a:r>
            <a:endParaRPr lang="en-US" sz="1800" spc="0" dirty="0">
              <a:solidFill>
                <a:prstClr val="black"/>
              </a:solidFill>
              <a:latin typeface="Times New Roman" pitchFamily="18" charset="0"/>
              <a:ea typeface="+mn-ea"/>
              <a:cs typeface="Times New Roman" pitchFamily="18" charset="0"/>
            </a:endParaRPr>
          </a:p>
          <a:p>
            <a:pPr marL="228600" lvl="0" indent="-228600" algn="just" fontAlgn="base">
              <a:lnSpc>
                <a:spcPct val="150000"/>
              </a:lnSpc>
              <a:spcAft>
                <a:spcPct val="0"/>
              </a:spcAft>
              <a:buFont typeface="Arial" charset="0"/>
              <a:buChar char="•"/>
            </a:pPr>
            <a:r>
              <a:rPr lang="en-US" sz="1800" spc="0" dirty="0">
                <a:solidFill>
                  <a:prstClr val="black"/>
                </a:solidFill>
                <a:latin typeface="Times New Roman" pitchFamily="18" charset="0"/>
                <a:ea typeface="+mn-ea"/>
                <a:cs typeface="Times New Roman" pitchFamily="18" charset="0"/>
              </a:rPr>
              <a:t>Considering the future work, the application can be further improved by adding some more utilities and designing a better UI. Some features like providing more crypto algorithms like DES, Blowfish, SA etc. for encryption of the message can provide more utilities to the application. </a:t>
            </a:r>
          </a:p>
          <a:p>
            <a:pPr marL="228600" lvl="0" indent="-228600" algn="just" fontAlgn="base">
              <a:lnSpc>
                <a:spcPct val="150000"/>
              </a:lnSpc>
              <a:spcAft>
                <a:spcPct val="0"/>
              </a:spcAft>
              <a:buFont typeface="Arial" charset="0"/>
              <a:buChar char="•"/>
            </a:pPr>
            <a:r>
              <a:rPr lang="en-US" sz="1800" spc="0" dirty="0">
                <a:solidFill>
                  <a:prstClr val="black"/>
                </a:solidFill>
                <a:latin typeface="Times New Roman" pitchFamily="18" charset="0"/>
                <a:ea typeface="+mn-ea"/>
                <a:cs typeface="Times New Roman" pitchFamily="18" charset="0"/>
              </a:rPr>
              <a:t>Overall, the present application is very handy, secured and interactive providing sufficient utilities to the users.</a:t>
            </a:r>
            <a:endParaRPr lang="en-IN" altLang="en-US" sz="1800" spc="0" dirty="0">
              <a:solidFill>
                <a:prstClr val="black"/>
              </a:solidFill>
              <a:latin typeface="Times New Roman" pitchFamily="18" charset="0"/>
              <a:ea typeface="+mn-ea"/>
              <a:cs typeface="Times New Roman" pitchFamily="18" charset="0"/>
            </a:endParaRPr>
          </a:p>
          <a:p>
            <a:endParaRPr lang="en-US" dirty="0"/>
          </a:p>
        </p:txBody>
      </p:sp>
      <p:sp>
        <p:nvSpPr>
          <p:cNvPr id="29" name="Slide Number Placeholder 28"/>
          <p:cNvSpPr>
            <a:spLocks noGrp="1"/>
          </p:cNvSpPr>
          <p:nvPr>
            <p:ph type="sldNum" sz="quarter" idx="12"/>
          </p:nvPr>
        </p:nvSpPr>
        <p:spPr/>
        <p:txBody>
          <a:bodyPr/>
          <a:lstStyle/>
          <a:p>
            <a:fld id="{B5CEABB6-07DC-46E8-9B57-56EC44A396E5}"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CAEE93-8585-46D4-A7EC-F184E317CB2E}"/>
              </a:ext>
            </a:extLst>
          </p:cNvPr>
          <p:cNvSpPr>
            <a:spLocks noGrp="1"/>
          </p:cNvSpPr>
          <p:nvPr>
            <p:ph type="ctrTitle"/>
          </p:nvPr>
        </p:nvSpPr>
        <p:spPr>
          <a:xfrm>
            <a:off x="4524375" y="2320586"/>
            <a:ext cx="4179570" cy="1524735"/>
          </a:xfrm>
        </p:spPr>
        <p:txBody>
          <a:bodyPr/>
          <a:lstStyle/>
          <a:p>
            <a:r>
              <a:rPr lang="en-US" sz="4000" dirty="0"/>
              <a:t>THANK YOU </a:t>
            </a:r>
            <a:r>
              <a:rPr lang="en-US" sz="4000" dirty="0">
                <a:sym typeface="Wingdings" panose="05000000000000000000" pitchFamily="2" charset="2"/>
              </a:rPr>
              <a:t></a:t>
            </a:r>
            <a:endParaRPr lang="en-US" sz="4000" dirty="0"/>
          </a:p>
        </p:txBody>
      </p:sp>
      <p:sp>
        <p:nvSpPr>
          <p:cNvPr id="6" name="Slide Number Placeholder 5">
            <a:extLst>
              <a:ext uri="{FF2B5EF4-FFF2-40B4-BE49-F238E27FC236}">
                <a16:creationId xmlns:a16="http://schemas.microsoft.com/office/drawing/2014/main" xmlns=""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xmlns=""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Minimalist light pitch_tm56180624_Win32_LW_SL_v3" id="{5A4404DB-4ECC-4373-8C35-B428B8CCB737}" vid="{DB02F28E-0C23-47F0-A348-62748A79E20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2BC90D6-94CF-42F7-AAC4-9CF6824C54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 light sales pitch</Template>
  <TotalTime>134</TotalTime>
  <Words>744</Words>
  <Application>Microsoft Office PowerPoint</Application>
  <PresentationFormat>Custom</PresentationFormat>
  <Paragraphs>92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Monoline</vt:lpstr>
      <vt:lpstr>Slide 1</vt:lpstr>
      <vt:lpstr>OBJECTIVES</vt:lpstr>
      <vt:lpstr>   Image-Steganography</vt:lpstr>
      <vt:lpstr>   The implementation has been done majorly in two phases here that is, cryptography implementation and steganography implementation.  These two major phases have more sub- phases in them for implementation. A GUI is developed using python pysimplegui. Which includes four layouts namely: encrypt, decrypt,keys,mail.  There are 4 modules used in the model: Encryption Module Encode Module Decode Module Decryption Module SMTP  </vt:lpstr>
      <vt:lpstr>ALGORITHMS</vt:lpstr>
      <vt:lpstr> ARCHITECTURE   MODULE DESCRIPTION</vt:lpstr>
      <vt:lpstr>ARCHITECTURE DIAGRAM</vt:lpstr>
      <vt:lpstr>     USE CASE DIAGRAM</vt:lpstr>
      <vt:lpstr>                                          Advantages      The main advantages of this system is Security that it provides security to your messages without knowing to third party.   Number of bits have been replaced according to user or sender, therefore third party can not quess password.   Normal network user cant guess image.   In steganography anyone cant jump on suspect by looking images.   It is Reliable.   Easy to use.   Easy Maintenance.   System have been secured by password authentication</vt:lpstr>
      <vt:lpstr>   Results  </vt:lpstr>
      <vt:lpstr>Slide 11</vt:lpstr>
      <vt:lpstr>     TESTING PICS</vt:lpstr>
      <vt:lpstr>NOVELTY OF THE PROJECT  FUTURE SCOPE FOR FURTHER DEVELOPMENT</vt:lpstr>
      <vt:lpstr>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Crypegangraphy A secure communication technique using steganography and cryptography</dc:title>
  <dc:creator>Tushar Totla</dc:creator>
  <cp:lastModifiedBy>hii</cp:lastModifiedBy>
  <cp:revision>13</cp:revision>
  <dcterms:created xsi:type="dcterms:W3CDTF">2021-12-01T18:04:52Z</dcterms:created>
  <dcterms:modified xsi:type="dcterms:W3CDTF">2024-05-28T15:57:38Z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